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0A1FC-92D3-13E2-CB74-B5D5FC163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57CDEC-1E60-1C6B-2BF4-BC6C1190D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50B454-826B-B3D9-B74C-F2FF420B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59F56F-8536-0D00-995B-7B5E4D49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B0F8A1-56D6-4D0C-7C8F-D790F149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9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611C91-5E1B-C0E4-A2B6-B99ABE58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3E6F35-B62B-7222-87FF-53D32FBFA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83A792-5255-9EE7-376E-172FCF04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10DBF-C2EA-2CA7-B0BD-13F5EB7E0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9A70B1-0152-C091-F468-74483F4B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9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57B896-0E7F-CB8C-8E33-07678EE76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0994A4-CD4C-C950-3319-3C7ABAB7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77C1C5-FC17-A4FE-5B2B-24B7953A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13B71D-C97A-1017-1EF3-6E0958E7D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781F8A-D480-2B20-43CC-95BE9B62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9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3D8F70-9912-B058-37EA-CC39C96B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F3CC5-DD18-1DA6-FE43-2064B7DC2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F87470-EA93-3308-72B6-01B6A8802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AC60F8-A53C-4FED-4C90-D5C0AAE7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CC9FB7-BC6C-4C02-F561-FB6EF7DA2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37B49D-D354-C4CB-9409-7F256F54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5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03A885-7646-F849-66D2-7E26E747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88510D-CA95-39CD-C22C-A6677EDE8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8E8DBE-91D1-886A-8E22-A715A7AE8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E700F1-EF3E-DBBB-2808-3ECDEA2E2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FC803E-D172-5A3D-553C-FE88DB1EA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4A06D7-C23F-8C6C-8D98-D05857EA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0CDB3E-F1E1-563E-A189-33FE8281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1C7C953-6FC5-94DA-D04F-A4BCFB53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7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E3FFFB-38AD-3D7F-3BC2-C56196D6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51CAB3-9379-0929-9B52-DFEC6EB5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A1E35A-C278-5CEE-41FC-52E6AFD4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EF9668E-EF9E-039F-62E6-967A6808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7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1440C95-269B-E92F-243B-BBFA57C7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BB3F9C-64DF-89B5-E3A1-808F630E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9D8EFB-0BDD-54F1-6D5F-C81C89B4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9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1AA653-3330-9EEA-DF1B-671230B0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B4015E-F08D-A820-165F-35F8FE909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85AA3C-8F7E-4170-D058-A17D1C5CE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902BF9-9D40-3492-F157-EA751A36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1F8C8A-08D8-E3EE-C699-45B1D7BD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08AF2E-B900-1DCC-F6DF-5876B739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06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CF4B69-4594-2CA5-E329-F6DE57557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76E504E-3EF8-1FBA-B0F3-64287BCFD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0764D4-CD5D-D03A-DFAA-BB17B038E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C9E953-BECE-E2AD-04D4-1B76386B2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8723FA-7281-DA68-62C1-744130CB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302256-0923-4785-0F3F-DF2D8604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1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76DADA-2638-5AB8-BDB5-62C02923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62E3E8-C92B-C56C-FD1C-D17D5673E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490887-48DC-8B05-6951-397072C7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8270E5-1A52-0EAF-FCAD-891A79A86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0C5E39-DBE7-7CD4-C400-D356EC2A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72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3080B0F-4D06-D9A6-EBC1-C5C2211C5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579D21-DCDF-E042-5C49-7C3EAE1CC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DB761-CAB3-CC25-B466-AD367780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4E134A-2355-DC3B-81F7-D7384369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7CC8CE-F4F0-2549-7143-DB374248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20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F44760-E58E-755D-154A-CB8423EC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8C492A-ABD5-BCED-CEAC-37216E9CA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9F5785-5083-8223-F9BB-EE508605C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A1A1A1-4FB6-D7D1-0EFE-7D5E55BB0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AB0795-B7AD-E151-3597-0AB4D653E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502920"/>
            <a:ext cx="1188720" cy="1188720"/>
          </a:xfrm>
          <a:prstGeom prst="ellipse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1143000"/>
            <a:ext cx="685800" cy="685800"/>
          </a:xfrm>
          <a:prstGeom prst="ellipse">
            <a:avLst/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72600" y="1417320"/>
            <a:ext cx="502920" cy="502920"/>
          </a:xfrm>
          <a:prstGeom prst="ellipse">
            <a:avLst/>
          </a:prstGeom>
          <a:solidFill>
            <a:srgbClr val="E2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594360"/>
            <a:ext cx="1417320" cy="347472"/>
          </a:xfrm>
          <a:prstGeom prst="round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卒業研究・中間発表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1D2B4C"/>
                </a:solidFill>
              </a:defRPr>
            </a:pPr>
            <a:r>
              <a:t>姿勢推定を用いた筋力トレーニング</a:t>
            </a:r>
            <a:br/>
            <a:r>
              <a:t>評価システムにおける処理の共通化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029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97180"/>
                </a:solidFill>
              </a:defRPr>
            </a:pPr>
            <a:r>
              <a:rPr lang="ja-JP" altLang="en-US" dirty="0"/>
              <a:t>学籍番号</a:t>
            </a:r>
            <a:r>
              <a:rPr lang="en-US" altLang="ja-JP" dirty="0"/>
              <a:t>:</a:t>
            </a:r>
            <a:r>
              <a:rPr dirty="0"/>
              <a:t>2023TS030　</a:t>
            </a:r>
            <a:r>
              <a:rPr lang="ja-JP" altLang="en-US" dirty="0"/>
              <a:t>氏名</a:t>
            </a:r>
            <a:r>
              <a:rPr lang="en-US" altLang="ja-JP" dirty="0"/>
              <a:t>:</a:t>
            </a:r>
            <a:r>
              <a:rPr dirty="0" err="1"/>
              <a:t>川瀬</a:t>
            </a:r>
            <a:r>
              <a:rPr dirty="0"/>
              <a:t> </a:t>
            </a:r>
            <a:r>
              <a:rPr dirty="0" err="1"/>
              <a:t>翔大</a:t>
            </a:r>
            <a:br>
              <a:rPr dirty="0"/>
            </a:br>
            <a:r>
              <a:rPr dirty="0" err="1"/>
              <a:t>指導教員：宮澤</a:t>
            </a:r>
            <a:r>
              <a:rPr dirty="0"/>
              <a:t> 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5074920" cy="1234440"/>
          </a:xfrm>
          <a:prstGeom prst="roundRect">
            <a:avLst/>
          </a:prstGeom>
          <a:solidFill>
            <a:srgbClr val="E1E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>
              <a:spcAft>
                <a:spcPts val="0"/>
              </a:spcAft>
              <a:defRPr sz="1500">
                <a:solidFill>
                  <a:srgbClr val="373F4E"/>
                </a:solidFill>
              </a:defRPr>
            </a:pPr>
            <a:r>
              <a:rPr dirty="0" err="1"/>
              <a:t>どこまで実装できているかを整理し</a:t>
            </a:r>
            <a:r>
              <a:rPr dirty="0"/>
              <a:t>、</a:t>
            </a:r>
            <a:br>
              <a:rPr dirty="0"/>
            </a:br>
            <a:r>
              <a:rPr dirty="0" err="1"/>
              <a:t>次に何を実装・検証するかを明確にする</a:t>
            </a:r>
            <a:r>
              <a:rPr dirty="0"/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77639"/>
            <a:ext cx="73152" cy="123444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1. 背景・課題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t>なぜ「共通化」が必要なのか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67DD2"/>
                </a:solidFill>
              </a:defRPr>
            </a:pPr>
            <a:r>
              <a:rPr dirty="0" err="1"/>
              <a:t>フォーム評価</a:t>
            </a:r>
            <a:endParaRPr dirty="0"/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rPr dirty="0" err="1"/>
              <a:t>筋力トレーニングではフォームが崩れると</a:t>
            </a:r>
            <a:r>
              <a:rPr dirty="0"/>
              <a:t>、</a:t>
            </a:r>
            <a:br>
              <a:rPr dirty="0"/>
            </a:br>
            <a:r>
              <a:rPr dirty="0" err="1"/>
              <a:t>狙った部位への負荷が十分でなくなる可能性がある</a:t>
            </a:r>
            <a:r>
              <a:rPr dirty="0"/>
              <a:t>。</a:t>
            </a:r>
            <a:br>
              <a:rPr dirty="0"/>
            </a:br>
            <a:br>
              <a:rPr dirty="0"/>
            </a:br>
            <a:r>
              <a:rPr dirty="0" err="1"/>
              <a:t>しかし、運動中のフォームを客観的に確認することは難しい</a:t>
            </a:r>
            <a:r>
              <a:rPr dirty="0"/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356616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474720" cy="3566160"/>
          </a:xfrm>
          <a:prstGeom prst="roundRect">
            <a:avLst/>
          </a:prstGeom>
          <a:solidFill>
            <a:srgbClr val="E2F6ED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359663"/>
                </a:solidFill>
              </a:defRPr>
            </a:pPr>
            <a:r>
              <a:t>姿勢推定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カメラ映像から人体の姿勢を推定し、</a:t>
            </a:r>
            <a:br/>
            <a:r>
              <a:t>ランドマークから関節角度などを計算。</a:t>
            </a:r>
            <a:br/>
            <a:br/>
            <a:r>
              <a:t>設定した条件と比較して評価する。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73152" cy="356616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474720" cy="3566160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F59E42"/>
                </a:solidFill>
              </a:defRPr>
            </a:pPr>
            <a:r>
              <a:t>種目追加の問題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種目ごとに対象関節・目標角度・許容範囲・比較条件が異なる。</a:t>
            </a:r>
            <a:br/>
            <a:br/>
            <a:r>
              <a:t>→ 種目追加のたびにプログラム修正が必要。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00200"/>
            <a:ext cx="73152" cy="356616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532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D5C5C"/>
                </a:solidFill>
              </a:defRPr>
            </a:pPr>
            <a:r>
              <a:t>種目数が増えるほど、修正・保守の負担が増える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2. 研究目的・RQ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t>「何を共通化するのか」を明確にする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492240" cy="1325880"/>
          </a:xfrm>
          <a:prstGeom prst="roundRect">
            <a:avLst/>
          </a:prstGeom>
          <a:solidFill>
            <a:srgbClr val="E1E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467DD2"/>
                </a:solidFill>
              </a:defRPr>
            </a:pPr>
            <a:r>
              <a:t>研究目的</a:t>
            </a:r>
          </a:p>
          <a:p>
            <a:pPr>
              <a:spcAft>
                <a:spcPts val="0"/>
              </a:spcAft>
              <a:defRPr sz="1700">
                <a:solidFill>
                  <a:srgbClr val="373F4E"/>
                </a:solidFill>
              </a:defRPr>
            </a:pPr>
            <a:r>
              <a:t>種目追加時に既存プログラムを修正する負担を抑えつつ、評価処理を拡張できる構成を明らかにする。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32588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3063240" cy="205740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7C63C4"/>
                </a:solidFill>
              </a:defRPr>
            </a:pPr>
            <a:r>
              <a:t>① 設定へ分離</a:t>
            </a:r>
          </a:p>
          <a:p>
            <a:pPr>
              <a:spcAft>
                <a:spcPts val="0"/>
              </a:spcAft>
              <a:defRPr sz="1500">
                <a:solidFill>
                  <a:srgbClr val="373F4E"/>
                </a:solidFill>
              </a:defRPr>
            </a:pPr>
            <a:r>
              <a:t>種目ごとに異なる</a:t>
            </a:r>
            <a:br/>
            <a:r>
              <a:t>・対象関節</a:t>
            </a:r>
            <a:br/>
            <a:r>
              <a:t>・目標角度</a:t>
            </a:r>
            <a:br/>
            <a:r>
              <a:t>・許容範囲</a:t>
            </a:r>
            <a:br/>
            <a:r>
              <a:t>などを設定データへ。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73152" cy="2057400"/>
          </a:xfrm>
          <a:prstGeom prst="rect">
            <a:avLst/>
          </a:prstGeom>
          <a:solidFill>
            <a:srgbClr val="7C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77639" y="3063240"/>
            <a:ext cx="3154680" cy="2057400"/>
          </a:xfrm>
          <a:prstGeom prst="roundRect">
            <a:avLst/>
          </a:prstGeom>
          <a:solidFill>
            <a:srgbClr val="E2F6ED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359663"/>
                </a:solidFill>
              </a:defRPr>
            </a:pPr>
            <a:r>
              <a:t>② 共通化</a:t>
            </a:r>
          </a:p>
          <a:p>
            <a:pPr>
              <a:spcAft>
                <a:spcPts val="0"/>
              </a:spcAft>
              <a:defRPr sz="1500">
                <a:solidFill>
                  <a:srgbClr val="373F4E"/>
                </a:solidFill>
              </a:defRPr>
            </a:pPr>
            <a:r>
              <a:t>姿勢推定後の</a:t>
            </a:r>
            <a:br/>
            <a:r>
              <a:t>「角度計算 → 判定」</a:t>
            </a:r>
            <a:br/>
            <a:r>
              <a:t>などを共通処理として利用。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3063240"/>
            <a:ext cx="73152" cy="205740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52360" y="1508760"/>
            <a:ext cx="40690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F59E42"/>
                </a:solidFill>
              </a:defRPr>
            </a:pPr>
            <a:r>
              <a:t>研究課題（RQ）</a:t>
            </a:r>
          </a:p>
          <a:p>
            <a:pPr>
              <a:spcAft>
                <a:spcPts val="0"/>
              </a:spcAft>
              <a:defRPr sz="1500">
                <a:solidFill>
                  <a:srgbClr val="373F4E"/>
                </a:solidFill>
              </a:defRPr>
            </a:pPr>
            <a:r>
              <a:t>関節指定、目標角度、判定条件などを、</a:t>
            </a:r>
            <a:br/>
            <a:r>
              <a:t>どこまで設定データの変更だけで扱えるか。</a:t>
            </a:r>
            <a:br/>
            <a:br/>
            <a:r>
              <a:t>さらに、設定だけでは扱えない規則について、</a:t>
            </a:r>
            <a:br/>
            <a:r>
              <a:t>共通コードの追加・変更や個別処理が必要となる境界を明らかにする。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508760"/>
            <a:ext cx="73152" cy="361188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3. 想定するシステム構成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t>「種目固有」と「共通」を分ける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467DD2"/>
                </a:solidFill>
              </a:defRPr>
            </a:pPr>
            <a:r>
              <a:t>カメラ映像</a:t>
            </a:r>
          </a:p>
          <a:p>
            <a:pPr>
              <a:spcAft>
                <a:spcPts val="0"/>
              </a:spcAft>
              <a:defRPr sz="1200">
                <a:solidFill>
                  <a:srgbClr val="373F4E"/>
                </a:solidFill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73152" cy="132588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hevron 8"/>
          <p:cNvSpPr/>
          <p:nvPr/>
        </p:nvSpPr>
        <p:spPr>
          <a:xfrm>
            <a:off x="2450591" y="2267712"/>
            <a:ext cx="347472" cy="411480"/>
          </a:xfrm>
          <a:prstGeom prst="chevron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88920" y="18288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359663"/>
                </a:solidFill>
              </a:defRPr>
            </a:pPr>
            <a:r>
              <a:t>姿勢推定</a:t>
            </a:r>
            <a:br/>
            <a:r>
              <a:t>MediaPipe</a:t>
            </a:r>
          </a:p>
          <a:p>
            <a:pPr>
              <a:spcAft>
                <a:spcPts val="0"/>
              </a:spcAft>
              <a:defRPr sz="1200">
                <a:solidFill>
                  <a:srgbClr val="373F4E"/>
                </a:solidFill>
              </a:defRPr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88920" y="1828800"/>
            <a:ext cx="73152" cy="132588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4645152" y="2267712"/>
            <a:ext cx="347472" cy="411480"/>
          </a:xfrm>
          <a:prstGeom prst="chevron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83480" y="18288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7C63C4"/>
                </a:solidFill>
              </a:defRPr>
            </a:pPr>
            <a:r>
              <a:t>ランドマーク</a:t>
            </a:r>
          </a:p>
          <a:p>
            <a:pPr>
              <a:spcAft>
                <a:spcPts val="0"/>
              </a:spcAft>
              <a:defRPr sz="1200">
                <a:solidFill>
                  <a:srgbClr val="373F4E"/>
                </a:solidFill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3480" y="1828800"/>
            <a:ext cx="73152" cy="1325880"/>
          </a:xfrm>
          <a:prstGeom prst="rect">
            <a:avLst/>
          </a:prstGeom>
          <a:solidFill>
            <a:srgbClr val="7C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6839712" y="2267712"/>
            <a:ext cx="347472" cy="411480"/>
          </a:xfrm>
          <a:prstGeom prst="chevron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78040" y="182880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42"/>
                </a:solidFill>
              </a:defRPr>
            </a:pPr>
            <a:r>
              <a:t>共通処理</a:t>
            </a:r>
            <a:br/>
            <a:r>
              <a:t>3点取得 → 角度計算 → 判定</a:t>
            </a:r>
          </a:p>
          <a:p>
            <a:pPr>
              <a:spcAft>
                <a:spcPts val="0"/>
              </a:spcAft>
              <a:defRPr sz="1200">
                <a:solidFill>
                  <a:srgbClr val="373F4E"/>
                </a:solidFill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78040" y="1828800"/>
            <a:ext cx="73152" cy="132588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9034272" y="2267712"/>
            <a:ext cx="347472" cy="411480"/>
          </a:xfrm>
          <a:prstGeom prst="chevron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555480" y="182880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467DD2"/>
                </a:solidFill>
              </a:defRPr>
            </a:pPr>
            <a:r>
              <a:t>評価結果</a:t>
            </a:r>
            <a:br/>
            <a:r>
              <a:t>表示・フィードバック</a:t>
            </a:r>
          </a:p>
          <a:p>
            <a:pPr>
              <a:spcAft>
                <a:spcPts val="0"/>
              </a:spcAft>
              <a:defRPr sz="1200">
                <a:solidFill>
                  <a:srgbClr val="373F4E"/>
                </a:solidFill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55480" y="1828800"/>
            <a:ext cx="73152" cy="132588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43000" y="3886200"/>
            <a:ext cx="9784080" cy="141732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7C63C4"/>
                </a:solidFill>
              </a:defRPr>
            </a:pPr>
            <a:r>
              <a:t>種目別設定</a:t>
            </a:r>
          </a:p>
          <a:p>
            <a:pPr>
              <a:spcAft>
                <a:spcPts val="0"/>
              </a:spcAft>
              <a:defRPr sz="1700">
                <a:solidFill>
                  <a:srgbClr val="373F4E"/>
                </a:solidFill>
              </a:defRPr>
            </a:pPr>
            <a:r>
              <a:t>① 角度計算に使う3点　② 目標角度　③ 許容範囲　④ 比較条件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3886200"/>
            <a:ext cx="73152" cy="1417320"/>
          </a:xfrm>
          <a:prstGeom prst="rect">
            <a:avLst/>
          </a:prstGeom>
          <a:solidFill>
            <a:srgbClr val="7C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55321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D2B4C"/>
                </a:solidFill>
              </a:defRPr>
            </a:pPr>
            <a:r>
              <a:t>狙い：種目固有の情報を設定として分離し、共通処理を再利用する。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4. 対象種目と共通処理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t>スクワットとアームカールで考える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4937760" cy="3108960"/>
          </a:xfrm>
          <a:prstGeom prst="roundRect">
            <a:avLst/>
          </a:prstGeom>
          <a:solidFill>
            <a:srgbClr val="E1E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67DD2"/>
                </a:solidFill>
              </a:defRPr>
            </a:pPr>
            <a:r>
              <a:t>スクワット</a:t>
            </a:r>
          </a:p>
          <a:p>
            <a:pPr>
              <a:spcAft>
                <a:spcPts val="0"/>
              </a:spcAft>
              <a:defRPr sz="1700">
                <a:solidFill>
                  <a:srgbClr val="373F4E"/>
                </a:solidFill>
              </a:defRPr>
            </a:pPr>
            <a:r>
              <a:t>対象3点</a:t>
            </a:r>
            <a:br/>
            <a:r>
              <a:t>股関節 → 膝 → 足首</a:t>
            </a:r>
            <a:br/>
            <a:br/>
            <a:r>
              <a:t>評価：膝関節の角度</a:t>
            </a:r>
            <a:br/>
            <a:r>
              <a:t>目標：90°</a:t>
            </a:r>
            <a:br/>
            <a:r>
              <a:t>許容範囲：±15°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310896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0" y="1554480"/>
            <a:ext cx="4937760" cy="3108960"/>
          </a:xfrm>
          <a:prstGeom prst="roundRect">
            <a:avLst/>
          </a:prstGeom>
          <a:solidFill>
            <a:srgbClr val="E2F6ED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359663"/>
                </a:solidFill>
              </a:defRPr>
            </a:pPr>
            <a:r>
              <a:t>アームカール</a:t>
            </a:r>
          </a:p>
          <a:p>
            <a:pPr>
              <a:spcAft>
                <a:spcPts val="0"/>
              </a:spcAft>
              <a:defRPr sz="1700">
                <a:solidFill>
                  <a:srgbClr val="373F4E"/>
                </a:solidFill>
              </a:defRPr>
            </a:pPr>
            <a:r>
              <a:t>対象3点</a:t>
            </a:r>
            <a:br/>
            <a:r>
              <a:t>肩 → 肘 → 手首</a:t>
            </a:r>
            <a:br/>
            <a:br/>
            <a:r>
              <a:t>評価：肘関節の角度</a:t>
            </a:r>
            <a:br/>
            <a:br/>
            <a:r>
              <a:t>※ 対象ランドマークは異なる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554480"/>
            <a:ext cx="73152" cy="310896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5112" y="4924044"/>
            <a:ext cx="3383280" cy="34747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altLang="zh-TW" dirty="0"/>
              <a:t>3</a:t>
            </a:r>
            <a:r>
              <a:rPr lang="zh-TW" altLang="en-US" dirty="0"/>
              <a:t>点 → 角度計算 → 比較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97180"/>
                </a:solidFill>
              </a:defRPr>
            </a:pPr>
            <a:r>
              <a:rPr dirty="0" err="1"/>
              <a:t>ここが共通なら、種目固有の違いを設定側へ移せる可能性がある</a:t>
            </a:r>
            <a:r>
              <a:rPr dirty="0"/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5. 実装状況①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318548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rPr lang="ja-JP" altLang="en-US" dirty="0"/>
              <a:t>実装できていること、できていないこと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4389120"/>
          </a:xfrm>
          <a:prstGeom prst="roundRect">
            <a:avLst/>
          </a:prstGeom>
          <a:solidFill>
            <a:srgbClr val="E2F6ED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359663"/>
                </a:solidFill>
              </a:defRPr>
            </a:pPr>
            <a:r>
              <a:rPr dirty="0"/>
              <a:t> </a:t>
            </a:r>
            <a:r>
              <a:rPr dirty="0" err="1"/>
              <a:t>実装できている</a:t>
            </a:r>
            <a:endParaRPr dirty="0"/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rPr dirty="0"/>
              <a:t>・</a:t>
            </a:r>
            <a:r>
              <a:rPr dirty="0" err="1"/>
              <a:t>Webカメラ映像の取得</a:t>
            </a:r>
            <a:br>
              <a:rPr dirty="0"/>
            </a:br>
            <a:r>
              <a:rPr dirty="0"/>
              <a:t>・</a:t>
            </a:r>
            <a:r>
              <a:rPr dirty="0" err="1"/>
              <a:t>MediaPipeによる姿勢推定</a:t>
            </a:r>
            <a:br>
              <a:rPr dirty="0"/>
            </a:br>
            <a:r>
              <a:rPr dirty="0"/>
              <a:t>・</a:t>
            </a:r>
            <a:r>
              <a:rPr dirty="0" err="1"/>
              <a:t>ランドマーク／骨格表示</a:t>
            </a:r>
            <a:br>
              <a:rPr dirty="0"/>
            </a:br>
            <a:r>
              <a:rPr dirty="0"/>
              <a:t>・スクワットの3点取得</a:t>
            </a:r>
            <a:br>
              <a:rPr dirty="0"/>
            </a:br>
            <a:r>
              <a:rPr dirty="0"/>
              <a:t>・</a:t>
            </a:r>
            <a:r>
              <a:rPr dirty="0" err="1"/>
              <a:t>膝角度の計算</a:t>
            </a:r>
            <a:br>
              <a:rPr dirty="0"/>
            </a:br>
            <a:r>
              <a:rPr dirty="0"/>
              <a:t>・</a:t>
            </a:r>
            <a:r>
              <a:rPr dirty="0" err="1"/>
              <a:t>JSONから設定値を読み込み</a:t>
            </a:r>
            <a:br>
              <a:rPr dirty="0"/>
            </a:br>
            <a:r>
              <a:rPr dirty="0"/>
              <a:t>・</a:t>
            </a:r>
            <a:r>
              <a:rPr dirty="0" err="1"/>
              <a:t>目標角度／許容範囲との比較</a:t>
            </a:r>
            <a:br>
              <a:rPr dirty="0"/>
            </a:br>
            <a:r>
              <a:rPr dirty="0"/>
              <a:t>・</a:t>
            </a:r>
            <a:r>
              <a:rPr dirty="0" err="1"/>
              <a:t>判定・フィードバック表示</a:t>
            </a:r>
            <a:br>
              <a:rPr dirty="0"/>
            </a:br>
            <a:r>
              <a:rPr dirty="0"/>
              <a:t>・</a:t>
            </a:r>
            <a:r>
              <a:rPr dirty="0" err="1"/>
              <a:t>処理時間／FPSの計測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38912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438912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DD5C5C"/>
                </a:solidFill>
              </a:defRPr>
            </a:pPr>
            <a:r>
              <a:rPr dirty="0"/>
              <a:t> </a:t>
            </a:r>
            <a:r>
              <a:rPr dirty="0" err="1"/>
              <a:t>まだ実装できていない</a:t>
            </a:r>
            <a:endParaRPr dirty="0"/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rPr dirty="0"/>
              <a:t>・角度計算の3点がPythonコード内に固定</a:t>
            </a:r>
            <a:br>
              <a:rPr dirty="0"/>
            </a:br>
            <a:r>
              <a:rPr dirty="0"/>
              <a:t>・</a:t>
            </a:r>
            <a:r>
              <a:rPr dirty="0" err="1"/>
              <a:t>JSONだけで対象関節を変更できない</a:t>
            </a:r>
            <a:br>
              <a:rPr dirty="0"/>
            </a:br>
            <a:r>
              <a:rPr dirty="0"/>
              <a:t>・</a:t>
            </a:r>
            <a:r>
              <a:rPr dirty="0" err="1"/>
              <a:t>アームカールを同じ処理で評価できない</a:t>
            </a:r>
            <a:br>
              <a:rPr dirty="0"/>
            </a:br>
            <a:r>
              <a:rPr dirty="0"/>
              <a:t>・</a:t>
            </a:r>
            <a:r>
              <a:rPr dirty="0" err="1"/>
              <a:t>種目の設定切替が未完成</a:t>
            </a:r>
            <a:br>
              <a:rPr dirty="0"/>
            </a:br>
            <a:r>
              <a:rPr dirty="0"/>
              <a:t>・</a:t>
            </a:r>
            <a:r>
              <a:rPr dirty="0" err="1"/>
              <a:t>複数角度／複数条件は未実装</a:t>
            </a:r>
            <a:br>
              <a:rPr dirty="0"/>
            </a:br>
            <a:r>
              <a:rPr dirty="0"/>
              <a:t>・</a:t>
            </a:r>
            <a:r>
              <a:rPr dirty="0" err="1"/>
              <a:t>時間的変化／動作順序は未実装</a:t>
            </a:r>
            <a:br>
              <a:rPr dirty="0"/>
            </a:br>
            <a:r>
              <a:rPr dirty="0"/>
              <a:t>・</a:t>
            </a:r>
            <a:r>
              <a:rPr dirty="0" err="1"/>
              <a:t>共通化の境界はまだ未検証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4389120"/>
          </a:xfrm>
          <a:prstGeom prst="rect">
            <a:avLst/>
          </a:prstGeom>
          <a:solidFill>
            <a:srgbClr val="D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5. 実装状況②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235192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rPr dirty="0" err="1"/>
              <a:t>現在のプログラムの「核心</a:t>
            </a:r>
            <a:r>
              <a:rPr dirty="0"/>
              <a:t>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4572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467DD2"/>
                </a:solidFill>
              </a:defRPr>
            </a:pPr>
            <a:r>
              <a:t>現在の処理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Webカメラ</a:t>
            </a:r>
            <a:br/>
            <a:r>
              <a:t>　↓</a:t>
            </a:r>
            <a:br/>
            <a:r>
              <a:t>MediaPipe姿勢推定</a:t>
            </a:r>
            <a:br/>
            <a:r>
              <a:t>　↓</a:t>
            </a:r>
            <a:br/>
            <a:r>
              <a:t>股関節・膝・足首を取得</a:t>
            </a:r>
            <a:br/>
            <a:r>
              <a:t>　↓</a:t>
            </a:r>
            <a:br/>
            <a:r>
              <a:t>膝角度を計算</a:t>
            </a:r>
            <a:br/>
            <a:r>
              <a:t>　↓</a:t>
            </a:r>
            <a:br/>
            <a:r>
              <a:t>JSONの目標角度・許容範囲と比較</a:t>
            </a:r>
            <a:br/>
            <a:r>
              <a:t>　↓</a:t>
            </a:r>
            <a:br/>
            <a:r>
              <a:t>判定・フィードバック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32120" y="1417320"/>
            <a:ext cx="5989320" cy="196596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DD5C5C"/>
                </a:solidFill>
              </a:defRPr>
            </a:pPr>
            <a:r>
              <a:rPr dirty="0" err="1"/>
              <a:t>現在の問題点</a:t>
            </a:r>
            <a:endParaRPr dirty="0"/>
          </a:p>
          <a:p>
            <a:pPr>
              <a:spcAft>
                <a:spcPts val="0"/>
              </a:spcAft>
              <a:defRPr sz="1700">
                <a:solidFill>
                  <a:srgbClr val="373F4E"/>
                </a:solidFill>
              </a:defRPr>
            </a:pPr>
            <a:r>
              <a:rPr dirty="0" err="1"/>
              <a:t>JSONは読み込めているが</a:t>
            </a:r>
            <a:r>
              <a:rPr dirty="0"/>
              <a:t>、</a:t>
            </a:r>
            <a:br>
              <a:rPr dirty="0"/>
            </a:br>
            <a:r>
              <a:rPr dirty="0"/>
              <a:t>「どの3点を使うか」はPython側</a:t>
            </a:r>
            <a:r>
              <a:rPr lang="ja-JP" altLang="en-US" dirty="0"/>
              <a:t>で</a:t>
            </a:r>
            <a:r>
              <a:rPr dirty="0" err="1"/>
              <a:t>固定</a:t>
            </a:r>
            <a:r>
              <a:rPr dirty="0"/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1417320"/>
            <a:ext cx="73152" cy="1965960"/>
          </a:xfrm>
          <a:prstGeom prst="rect">
            <a:avLst/>
          </a:prstGeom>
          <a:solidFill>
            <a:srgbClr val="D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32120" y="3611880"/>
            <a:ext cx="5989320" cy="2331720"/>
          </a:xfrm>
          <a:prstGeom prst="roundRect">
            <a:avLst/>
          </a:prstGeom>
          <a:solidFill>
            <a:srgbClr val="E2F6ED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59663"/>
                </a:solidFill>
              </a:defRPr>
            </a:pPr>
            <a:r>
              <a:rPr dirty="0" err="1"/>
              <a:t>研究として重要な</a:t>
            </a:r>
            <a:r>
              <a:rPr lang="ja-JP" altLang="en-US" dirty="0"/>
              <a:t>部分</a:t>
            </a:r>
            <a:endParaRPr dirty="0"/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rPr dirty="0"/>
              <a:t>3点の指定も設定ファイルへ移す。</a:t>
            </a:r>
            <a:br>
              <a:rPr dirty="0"/>
            </a:br>
            <a:br>
              <a:rPr dirty="0"/>
            </a:br>
            <a:r>
              <a:rPr dirty="0" err="1"/>
              <a:t>スクワット：股関節・膝・足首</a:t>
            </a:r>
            <a:br>
              <a:rPr dirty="0"/>
            </a:br>
            <a:r>
              <a:rPr dirty="0" err="1"/>
              <a:t>アームカール：肩・肘・手首</a:t>
            </a:r>
            <a:br>
              <a:rPr dirty="0"/>
            </a:br>
            <a:br>
              <a:rPr dirty="0"/>
            </a:br>
            <a:r>
              <a:rPr dirty="0"/>
              <a:t>→ </a:t>
            </a:r>
            <a:r>
              <a:rPr dirty="0" err="1"/>
              <a:t>同じ角度計算・判定処理を利用できるか確認</a:t>
            </a:r>
            <a:r>
              <a:rPr dirty="0"/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3611880"/>
            <a:ext cx="73152" cy="233172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6. 研究目的との対応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t>実装済み → 共通化へ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331720" cy="2377440"/>
          </a:xfrm>
          <a:prstGeom prst="roundRect">
            <a:avLst/>
          </a:prstGeom>
          <a:solidFill>
            <a:srgbClr val="E1E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467DD2"/>
                </a:solidFill>
              </a:defRPr>
            </a:pPr>
            <a:r>
              <a:t>現在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スクワットの</a:t>
            </a:r>
            <a:br/>
            <a:r>
              <a:t>評価処理が動作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237744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hevron 8"/>
          <p:cNvSpPr/>
          <p:nvPr/>
        </p:nvSpPr>
        <p:spPr>
          <a:xfrm>
            <a:off x="3035808" y="2743200"/>
            <a:ext cx="384048" cy="457200"/>
          </a:xfrm>
          <a:prstGeom prst="chevron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56432" y="1828800"/>
            <a:ext cx="2331720" cy="237744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7C63C4"/>
                </a:solidFill>
              </a:defRPr>
            </a:pPr>
            <a:r>
              <a:t>次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3点を設定ファイル</a:t>
            </a:r>
            <a:br/>
            <a:r>
              <a:t>から取得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828800"/>
            <a:ext cx="73152" cy="2377440"/>
          </a:xfrm>
          <a:prstGeom prst="rect">
            <a:avLst/>
          </a:prstGeom>
          <a:solidFill>
            <a:srgbClr val="7C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5852160" y="2743200"/>
            <a:ext cx="384048" cy="457200"/>
          </a:xfrm>
          <a:prstGeom prst="chevron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72784" y="1828800"/>
            <a:ext cx="2331720" cy="2377440"/>
          </a:xfrm>
          <a:prstGeom prst="roundRect">
            <a:avLst/>
          </a:prstGeom>
          <a:solidFill>
            <a:srgbClr val="E2F6ED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59663"/>
                </a:solidFill>
              </a:defRPr>
            </a:pPr>
            <a:r>
              <a:t>検証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アームカールを</a:t>
            </a:r>
            <a:br/>
            <a:r>
              <a:t>同じ処理で評価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828800"/>
            <a:ext cx="73152" cy="237744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8668512" y="2743200"/>
            <a:ext cx="384048" cy="457200"/>
          </a:xfrm>
          <a:prstGeom prst="chevron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89136" y="1828800"/>
            <a:ext cx="2331720" cy="2377440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59E42"/>
                </a:solidFill>
              </a:defRPr>
            </a:pPr>
            <a:r>
              <a:t>最終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設定／共通／個別の</a:t>
            </a:r>
            <a:br/>
            <a:r>
              <a:t>境界を整理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36" y="1828800"/>
            <a:ext cx="73152" cy="237744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7. 検証方法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t>どこまで設定だけで対応できるかを段階的に確認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57800" cy="1600200"/>
          </a:xfrm>
          <a:prstGeom prst="roundRect">
            <a:avLst/>
          </a:prstGeom>
          <a:solidFill>
            <a:srgbClr val="E1E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467DD2"/>
                </a:solidFill>
              </a:defRPr>
            </a:pPr>
            <a:r>
              <a:t>① 関節指定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3点だけが違う場合</a:t>
            </a:r>
            <a:br/>
            <a:r>
              <a:t>→ 設定変更だけで対応できる？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57800" cy="160020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7C63C4"/>
                </a:solidFill>
              </a:defRPr>
            </a:pPr>
            <a:r>
              <a:t>② 複数条件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複数角度・複数条件</a:t>
            </a:r>
            <a:br/>
            <a:r>
              <a:t>→ 共通処理の変更で対応できる？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73152" cy="1600200"/>
          </a:xfrm>
          <a:prstGeom prst="rect">
            <a:avLst/>
          </a:prstGeom>
          <a:solidFill>
            <a:srgbClr val="7C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5257800" cy="1600200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59E42"/>
                </a:solidFill>
              </a:defRPr>
            </a:pPr>
            <a:r>
              <a:t>③ 時間的変化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角度の変化・動作順序</a:t>
            </a:r>
            <a:br/>
            <a:r>
              <a:t>→ 個別処理が必要？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40"/>
            <a:ext cx="73152" cy="160020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3520440"/>
            <a:ext cx="5257800" cy="1600200"/>
          </a:xfrm>
          <a:prstGeom prst="roundRect">
            <a:avLst/>
          </a:prstGeom>
          <a:solidFill>
            <a:srgbClr val="E2F6ED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59663"/>
                </a:solidFill>
              </a:defRPr>
            </a:pPr>
            <a:r>
              <a:t>④ 変更量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種目追加時の変更箇所・コード量</a:t>
            </a:r>
            <a:br/>
            <a:r>
              <a:t>→ 共通化の効果を記録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520440"/>
            <a:ext cx="73152" cy="160020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5532120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D2B4C"/>
                </a:solidFill>
              </a:defRPr>
            </a:pPr>
            <a:r>
              <a:rPr dirty="0" err="1"/>
              <a:t>ポイント</a:t>
            </a:r>
            <a:endParaRPr dirty="0"/>
          </a:p>
          <a:p>
            <a:pPr>
              <a:spcAft>
                <a:spcPts val="0"/>
              </a:spcAft>
              <a:defRPr sz="1400">
                <a:solidFill>
                  <a:srgbClr val="373F4E"/>
                </a:solidFill>
              </a:defRPr>
            </a:pPr>
            <a:r>
              <a:rPr dirty="0"/>
              <a:t>「</a:t>
            </a:r>
            <a:r>
              <a:rPr dirty="0" err="1"/>
              <a:t>設定だけ</a:t>
            </a:r>
            <a:r>
              <a:rPr dirty="0"/>
              <a:t>」→「</a:t>
            </a:r>
            <a:r>
              <a:rPr dirty="0" err="1"/>
              <a:t>共通コード変更</a:t>
            </a:r>
            <a:r>
              <a:rPr dirty="0"/>
              <a:t>」→「</a:t>
            </a:r>
            <a:r>
              <a:rPr dirty="0" err="1"/>
              <a:t>個別処理」の境界を整理</a:t>
            </a:r>
            <a:r>
              <a:rPr lang="ja-JP" altLang="en-US" dirty="0"/>
              <a:t>。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73152" cy="594360"/>
          </a:xfrm>
          <a:prstGeom prst="rect">
            <a:avLst/>
          </a:prstGeom>
          <a:solidFill>
            <a:srgbClr val="1D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7947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8. 今後の予定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881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rPr dirty="0"/>
              <a:t>まずは「3点の設定化」から進める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40080" cy="347472"/>
          </a:xfrm>
          <a:prstGeom prst="round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252728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467DD2"/>
                </a:solidFill>
              </a:defRPr>
            </a:pPr>
            <a:r>
              <a:t>座標処理の整理</a:t>
            </a:r>
          </a:p>
          <a:p>
            <a:pPr>
              <a:spcAft>
                <a:spcPts val="0"/>
              </a:spcAft>
              <a:defRPr sz="1300">
                <a:solidFill>
                  <a:srgbClr val="373F4E"/>
                </a:solidFill>
              </a:defRPr>
            </a:pPr>
            <a:r>
              <a:t>画像平面上の座標へ変換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252728"/>
            <a:ext cx="73152" cy="74980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640080" cy="347472"/>
          </a:xfrm>
          <a:prstGeom prst="round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212848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467DD2"/>
                </a:solidFill>
              </a:defRPr>
            </a:pPr>
            <a:r>
              <a:t>3点の設定化</a:t>
            </a:r>
          </a:p>
          <a:p>
            <a:pPr>
              <a:spcAft>
                <a:spcPts val="0"/>
              </a:spcAft>
              <a:defRPr sz="1300">
                <a:solidFill>
                  <a:srgbClr val="373F4E"/>
                </a:solidFill>
              </a:defRPr>
            </a:pPr>
            <a:r>
              <a:t>角度計算に使う関節を設定から取得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212848"/>
            <a:ext cx="73152" cy="74980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640080" cy="347472"/>
          </a:xfrm>
          <a:prstGeom prst="round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3172968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467DD2"/>
                </a:solidFill>
              </a:defRPr>
            </a:pPr>
            <a:r>
              <a:t>2種目で確認</a:t>
            </a:r>
          </a:p>
          <a:p>
            <a:pPr>
              <a:spcAft>
                <a:spcPts val="0"/>
              </a:spcAft>
              <a:defRPr sz="1300">
                <a:solidFill>
                  <a:srgbClr val="373F4E"/>
                </a:solidFill>
              </a:defRPr>
            </a:pPr>
            <a:r>
              <a:t>スクワット＋アームカール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3172968"/>
            <a:ext cx="73152" cy="74980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640080" cy="347472"/>
          </a:xfrm>
          <a:prstGeom prst="round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133088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7C63C4"/>
                </a:solidFill>
              </a:defRPr>
            </a:pPr>
            <a:r>
              <a:rPr dirty="0" err="1"/>
              <a:t>条件を追加</a:t>
            </a:r>
            <a:endParaRPr dirty="0"/>
          </a:p>
          <a:p>
            <a:pPr>
              <a:spcAft>
                <a:spcPts val="0"/>
              </a:spcAft>
              <a:defRPr sz="1300">
                <a:solidFill>
                  <a:srgbClr val="373F4E"/>
                </a:solidFill>
              </a:defRPr>
            </a:pPr>
            <a:r>
              <a:rPr dirty="0" err="1"/>
              <a:t>複数角度・時間的変化など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1554480" y="4133088"/>
            <a:ext cx="73152" cy="749808"/>
          </a:xfrm>
          <a:prstGeom prst="rect">
            <a:avLst/>
          </a:prstGeom>
          <a:solidFill>
            <a:srgbClr val="7C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5166360"/>
            <a:ext cx="640080" cy="347472"/>
          </a:xfrm>
          <a:prstGeom prst="round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5093208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7C63C4"/>
                </a:solidFill>
              </a:defRPr>
            </a:pPr>
            <a:r>
              <a:t>境界を整理</a:t>
            </a:r>
          </a:p>
          <a:p>
            <a:pPr>
              <a:spcAft>
                <a:spcPts val="0"/>
              </a:spcAft>
              <a:defRPr sz="1300">
                <a:solidFill>
                  <a:srgbClr val="373F4E"/>
                </a:solidFill>
              </a:defRPr>
            </a:pPr>
            <a:r>
              <a:t>設定／共通／個別の違いを整理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5093208"/>
            <a:ext cx="73152" cy="749808"/>
          </a:xfrm>
          <a:prstGeom prst="rect">
            <a:avLst/>
          </a:prstGeom>
          <a:solidFill>
            <a:srgbClr val="7C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9. 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85178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180"/>
                </a:solidFill>
              </a:defRPr>
            </a:pPr>
            <a:r>
              <a:rPr dirty="0" err="1"/>
              <a:t>中間発表時点での</a:t>
            </a:r>
            <a:r>
              <a:rPr lang="ja-JP" altLang="en-US" dirty="0"/>
              <a:t>進捗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83280" cy="4297680"/>
          </a:xfrm>
          <a:prstGeom prst="roundRect">
            <a:avLst/>
          </a:prstGeom>
          <a:solidFill>
            <a:srgbClr val="E2F6ED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59663"/>
                </a:solidFill>
              </a:defRPr>
            </a:pPr>
            <a:r>
              <a:rPr dirty="0" err="1"/>
              <a:t>今できていること</a:t>
            </a:r>
            <a:endParaRPr dirty="0"/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rPr lang="ja-JP" altLang="en-US" dirty="0"/>
              <a:t>・</a:t>
            </a:r>
            <a:r>
              <a:rPr dirty="0"/>
              <a:t> </a:t>
            </a:r>
            <a:r>
              <a:rPr dirty="0" err="1"/>
              <a:t>カメラ取得</a:t>
            </a:r>
            <a:br>
              <a:rPr dirty="0"/>
            </a:br>
            <a:r>
              <a:rPr lang="ja-JP" altLang="en-US" dirty="0"/>
              <a:t>・</a:t>
            </a:r>
            <a:r>
              <a:rPr dirty="0"/>
              <a:t> </a:t>
            </a:r>
            <a:r>
              <a:rPr dirty="0" err="1"/>
              <a:t>姿勢推定</a:t>
            </a:r>
            <a:br>
              <a:rPr dirty="0"/>
            </a:br>
            <a:r>
              <a:rPr lang="ja-JP" altLang="en-US" dirty="0"/>
              <a:t>・</a:t>
            </a:r>
            <a:r>
              <a:rPr dirty="0"/>
              <a:t> </a:t>
            </a:r>
            <a:r>
              <a:rPr dirty="0" err="1"/>
              <a:t>ランドマーク取得</a:t>
            </a:r>
            <a:br>
              <a:rPr dirty="0"/>
            </a:br>
            <a:r>
              <a:rPr lang="ja-JP" altLang="en-US" dirty="0"/>
              <a:t>・</a:t>
            </a:r>
            <a:r>
              <a:rPr dirty="0"/>
              <a:t> </a:t>
            </a:r>
            <a:r>
              <a:rPr dirty="0" err="1"/>
              <a:t>スクワットの角度計算</a:t>
            </a:r>
            <a:br>
              <a:rPr dirty="0"/>
            </a:br>
            <a:r>
              <a:rPr lang="ja-JP" altLang="en-US" dirty="0"/>
              <a:t>・</a:t>
            </a:r>
            <a:r>
              <a:rPr dirty="0"/>
              <a:t> </a:t>
            </a:r>
            <a:r>
              <a:rPr dirty="0" err="1"/>
              <a:t>JSON読み込み</a:t>
            </a:r>
            <a:br>
              <a:rPr dirty="0"/>
            </a:br>
            <a:r>
              <a:rPr lang="ja-JP" altLang="en-US" dirty="0"/>
              <a:t>・</a:t>
            </a:r>
            <a:r>
              <a:rPr dirty="0"/>
              <a:t> </a:t>
            </a:r>
            <a:r>
              <a:rPr dirty="0" err="1"/>
              <a:t>判定・表示</a:t>
            </a:r>
            <a:br>
              <a:rPr dirty="0"/>
            </a:br>
            <a:r>
              <a:rPr lang="ja-JP" altLang="en-US" dirty="0"/>
              <a:t>・</a:t>
            </a:r>
            <a:r>
              <a:rPr dirty="0"/>
              <a:t> </a:t>
            </a:r>
            <a:r>
              <a:rPr dirty="0" err="1"/>
              <a:t>FPS計測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297680"/>
          </a:xfrm>
          <a:prstGeom prst="roundRect">
            <a:avLst/>
          </a:prstGeom>
          <a:solidFill>
            <a:srgbClr val="E1E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467DD2"/>
                </a:solidFill>
              </a:defRPr>
            </a:pPr>
            <a:r>
              <a:t>これからやること</a:t>
            </a:r>
          </a:p>
          <a:p>
            <a:pPr>
              <a:spcAft>
                <a:spcPts val="0"/>
              </a:spcAft>
              <a:defRPr sz="1600">
                <a:solidFill>
                  <a:srgbClr val="373F4E"/>
                </a:solidFill>
              </a:defRPr>
            </a:pPr>
            <a:r>
              <a:t>→ 3点を設定化</a:t>
            </a:r>
            <a:br/>
            <a:r>
              <a:t>→ アームカール追加</a:t>
            </a:r>
            <a:br/>
            <a:r>
              <a:t>→ 複数条件を検証</a:t>
            </a:r>
            <a:br/>
            <a:r>
              <a:t>→ 時間的変化を検討</a:t>
            </a:r>
            <a:br/>
            <a:r>
              <a:t>→ 変更量を記録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4297680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383280" cy="429768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7C63C4"/>
                </a:solidFill>
              </a:defRPr>
            </a:pPr>
            <a:r>
              <a:rPr dirty="0" err="1"/>
              <a:t>研究として明らかにすること</a:t>
            </a:r>
            <a:endParaRPr dirty="0"/>
          </a:p>
          <a:p>
            <a:pPr>
              <a:spcAft>
                <a:spcPts val="0"/>
              </a:spcAft>
              <a:defRPr sz="1500">
                <a:solidFill>
                  <a:srgbClr val="373F4E"/>
                </a:solidFill>
              </a:defRPr>
            </a:pPr>
            <a:r>
              <a:rPr dirty="0" err="1"/>
              <a:t>種目追加時に</a:t>
            </a:r>
            <a:br>
              <a:rPr dirty="0"/>
            </a:br>
            <a:br>
              <a:rPr dirty="0"/>
            </a:br>
            <a:r>
              <a:rPr lang="ja-JP" altLang="en-US" dirty="0"/>
              <a:t>・</a:t>
            </a:r>
            <a:r>
              <a:rPr dirty="0" err="1"/>
              <a:t>設定だけで対応できる範囲</a:t>
            </a:r>
            <a:endParaRPr lang="en-US" dirty="0"/>
          </a:p>
          <a:p>
            <a:pPr>
              <a:spcAft>
                <a:spcPts val="0"/>
              </a:spcAft>
              <a:defRPr sz="1500">
                <a:solidFill>
                  <a:srgbClr val="373F4E"/>
                </a:solidFill>
              </a:defRPr>
            </a:pPr>
            <a:br>
              <a:rPr dirty="0"/>
            </a:br>
            <a:r>
              <a:rPr lang="ja-JP" altLang="en-US" dirty="0"/>
              <a:t>・</a:t>
            </a:r>
            <a:r>
              <a:rPr dirty="0" err="1"/>
              <a:t>共通処理の変更が必要な</a:t>
            </a:r>
            <a:r>
              <a:rPr lang="ja-JP" altLang="en-US" dirty="0"/>
              <a:t>範囲</a:t>
            </a:r>
            <a:br>
              <a:rPr dirty="0"/>
            </a:br>
            <a:br>
              <a:rPr dirty="0"/>
            </a:br>
            <a:r>
              <a:rPr dirty="0" err="1"/>
              <a:t>個別処理が必要な範囲</a:t>
            </a:r>
            <a:r>
              <a:rPr dirty="0"/>
              <a:t>」</a:t>
            </a:r>
            <a:br>
              <a:rPr dirty="0"/>
            </a:br>
            <a:br>
              <a:rPr dirty="0"/>
            </a:br>
            <a:r>
              <a:rPr dirty="0" err="1"/>
              <a:t>を整理する</a:t>
            </a:r>
            <a:r>
              <a:rPr dirty="0"/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73152" cy="4297680"/>
          </a:xfrm>
          <a:prstGeom prst="rect">
            <a:avLst/>
          </a:prstGeom>
          <a:solidFill>
            <a:srgbClr val="7C6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697180"/>
                </a:solidFill>
              </a:defRPr>
            </a:pPr>
            <a:r>
              <a:rPr lang="ja-JP" altLang="en-US" dirty="0"/>
              <a:t>ご清聴</a:t>
            </a:r>
            <a:r>
              <a:rPr dirty="0" err="1"/>
              <a:t>ありがとうございました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D2B4C"/>
                </a:solidFill>
              </a:defRPr>
            </a:pPr>
            <a:r>
              <a:t>参考文献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D2B4C"/>
                </a:solidFill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373F4E"/>
                </a:solidFill>
              </a:defRPr>
            </a:pPr>
            <a:r>
              <a:t>[1] 田邉英介 他：運動過程をフィードバックする筋力トレーニング支援システム，2021年度電気・情報関係学会九州支部連合大会講演論文集，p.228，2021．</a:t>
            </a:r>
            <a:br/>
            <a:br/>
            <a:r>
              <a:t>[2] C. Mercadal-Baudart, et al.: Exercise quantification from single camera view markerless 3D pose estimation, Heliyon, Vol.10, No.6, e27596, 2024.</a:t>
            </a:r>
            <a:br/>
            <a:br/>
            <a:r>
              <a:t>[3] K. Patidar, et al.: Framework for Gym Posture Estimation Using MediaPipe and OpenCV, 2025 IEEE International Conference on Recent Advances in Computing and Systems (REACS), 2025.</a:t>
            </a:r>
            <a:br/>
            <a:br/>
            <a:r>
              <a:t>[4] Google AI Edge: MediaPipe Pose Landmarker</a:t>
            </a:r>
            <a:br/>
            <a:br/>
            <a:r>
              <a:t>[5] OpenCV: OpenCV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480560"/>
          </a:xfrm>
          <a:prstGeom prst="rect">
            <a:avLst/>
          </a:prstGeom>
          <a:solidFill>
            <a:srgbClr val="1D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556248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728</Words>
  <Application>Microsoft Office PowerPoint</Application>
  <PresentationFormat>ワイド画面</PresentationFormat>
  <Paragraphs>119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23ts030</cp:lastModifiedBy>
  <cp:revision>5</cp:revision>
  <dcterms:created xsi:type="dcterms:W3CDTF">2013-01-27T09:14:16Z</dcterms:created>
  <dcterms:modified xsi:type="dcterms:W3CDTF">2026-09-25T10:01:01Z</dcterms:modified>
  <cp:category/>
</cp:coreProperties>
</file>