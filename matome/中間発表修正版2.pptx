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66" d="100"/>
          <a:sy n="66" d="100"/>
        </p:scale>
        <p:origin x="2274" y="9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1417320"/>
            <a:ext cx="10698480" cy="457200"/>
          </a:xfrm>
          <a:prstGeom prst="rect">
            <a:avLst/>
          </a:prstGeom>
          <a:noFill/>
        </p:spPr>
        <p:txBody>
          <a:bodyPr wrap="square" lIns="45720" tIns="27432" rIns="45720" bIns="27432" anchor="ctr">
            <a:spAutoFit/>
          </a:bodyPr>
          <a:lstStyle/>
          <a:p>
            <a:pPr algn="ctr"/>
            <a:r>
              <a:rPr sz="2400" b="0">
                <a:solidFill>
                  <a:srgbClr val="5F6973"/>
                </a:solidFill>
                <a:latin typeface="Yu Gothic"/>
              </a:rPr>
              <a:t>卒業研究・中間発表</a:t>
            </a:r>
          </a:p>
        </p:txBody>
      </p:sp>
      <p:sp>
        <p:nvSpPr>
          <p:cNvPr id="3" name="TextBox 2"/>
          <p:cNvSpPr txBox="1"/>
          <p:nvPr/>
        </p:nvSpPr>
        <p:spPr>
          <a:xfrm>
            <a:off x="731520" y="2011680"/>
            <a:ext cx="10698480" cy="1371600"/>
          </a:xfrm>
          <a:prstGeom prst="rect">
            <a:avLst/>
          </a:prstGeom>
          <a:noFill/>
        </p:spPr>
        <p:txBody>
          <a:bodyPr wrap="square" lIns="45720" tIns="27432" rIns="45720" bIns="27432" anchor="ctr">
            <a:spAutoFit/>
          </a:bodyPr>
          <a:lstStyle/>
          <a:p>
            <a:pPr algn="ctr"/>
            <a:r>
              <a:rPr sz="3100" b="1">
                <a:solidFill>
                  <a:srgbClr val="23282D"/>
                </a:solidFill>
                <a:latin typeface="Yu Gothic"/>
              </a:rPr>
              <a:t>姿勢推定を用いた筋力トレーニング
評価システムにおける処理の共通化</a:t>
            </a:r>
          </a:p>
        </p:txBody>
      </p:sp>
      <p:sp>
        <p:nvSpPr>
          <p:cNvPr id="4" name="TextBox 3"/>
          <p:cNvSpPr txBox="1"/>
          <p:nvPr/>
        </p:nvSpPr>
        <p:spPr>
          <a:xfrm>
            <a:off x="731520" y="3977639"/>
            <a:ext cx="10698480" cy="365760"/>
          </a:xfrm>
          <a:prstGeom prst="rect">
            <a:avLst/>
          </a:prstGeom>
          <a:noFill/>
        </p:spPr>
        <p:txBody>
          <a:bodyPr wrap="square" lIns="45720" tIns="27432" rIns="45720" bIns="27432" anchor="ctr">
            <a:spAutoFit/>
          </a:bodyPr>
          <a:lstStyle/>
          <a:p>
            <a:pPr algn="ctr"/>
            <a:r>
              <a:rPr sz="1900" b="0">
                <a:solidFill>
                  <a:srgbClr val="23282D"/>
                </a:solidFill>
                <a:latin typeface="Yu Gothic"/>
              </a:rPr>
              <a:t>2023TS030　川瀬 翔大</a:t>
            </a:r>
          </a:p>
        </p:txBody>
      </p:sp>
      <p:sp>
        <p:nvSpPr>
          <p:cNvPr id="5" name="TextBox 4"/>
          <p:cNvSpPr txBox="1"/>
          <p:nvPr/>
        </p:nvSpPr>
        <p:spPr>
          <a:xfrm>
            <a:off x="731520" y="4480560"/>
            <a:ext cx="10698480" cy="365760"/>
          </a:xfrm>
          <a:prstGeom prst="rect">
            <a:avLst/>
          </a:prstGeom>
          <a:noFill/>
        </p:spPr>
        <p:txBody>
          <a:bodyPr wrap="square" lIns="45720" tIns="27432" rIns="45720" bIns="27432" anchor="ctr">
            <a:spAutoFit/>
          </a:bodyPr>
          <a:lstStyle/>
          <a:p>
            <a:pPr algn="ctr"/>
            <a:r>
              <a:rPr sz="1800" b="0">
                <a:solidFill>
                  <a:srgbClr val="23282D"/>
                </a:solidFill>
                <a:latin typeface="Yu Gothic"/>
              </a:rPr>
              <a:t>指導教員：宮澤 元</a:t>
            </a:r>
          </a:p>
        </p:txBody>
      </p:sp>
      <p:sp>
        <p:nvSpPr>
          <p:cNvPr id="6" name="TextBox 5"/>
          <p:cNvSpPr txBox="1"/>
          <p:nvPr/>
        </p:nvSpPr>
        <p:spPr>
          <a:xfrm>
            <a:off x="502920" y="6510528"/>
            <a:ext cx="3657600" cy="182880"/>
          </a:xfrm>
          <a:prstGeom prst="rect">
            <a:avLst/>
          </a:prstGeom>
          <a:noFill/>
        </p:spPr>
        <p:txBody>
          <a:bodyPr wrap="square" lIns="45720" tIns="27432" rIns="45720" bIns="27432" anchor="ctr">
            <a:spAutoFit/>
          </a:bodyPr>
          <a:lstStyle/>
          <a:p>
            <a:pPr algn="l"/>
            <a:r>
              <a:rPr sz="900" b="0">
                <a:solidFill>
                  <a:srgbClr val="5F6973"/>
                </a:solidFill>
                <a:latin typeface="Yu Gothic"/>
              </a:rPr>
              <a:t>卒業研究・中間発表</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0698480" cy="502920"/>
          </a:xfrm>
          <a:prstGeom prst="rect">
            <a:avLst/>
          </a:prstGeom>
          <a:noFill/>
        </p:spPr>
        <p:txBody>
          <a:bodyPr wrap="square" lIns="45720" tIns="27432" rIns="45720" bIns="27432" anchor="ctr">
            <a:spAutoFit/>
          </a:bodyPr>
          <a:lstStyle/>
          <a:p>
            <a:pPr algn="l"/>
            <a:r>
              <a:rPr sz="2700" b="1">
                <a:solidFill>
                  <a:srgbClr val="23282D"/>
                </a:solidFill>
                <a:latin typeface="Yu Gothic"/>
              </a:rPr>
              <a:t>1. 背景・課題</a:t>
            </a:r>
          </a:p>
        </p:txBody>
      </p:sp>
      <p:sp>
        <p:nvSpPr>
          <p:cNvPr id="3" name="TextBox 2"/>
          <p:cNvSpPr txBox="1"/>
          <p:nvPr/>
        </p:nvSpPr>
        <p:spPr>
          <a:xfrm>
            <a:off x="11247120" y="256032"/>
            <a:ext cx="457200" cy="274320"/>
          </a:xfrm>
          <a:prstGeom prst="rect">
            <a:avLst/>
          </a:prstGeom>
          <a:noFill/>
        </p:spPr>
        <p:txBody>
          <a:bodyPr wrap="square" lIns="45720" tIns="27432" rIns="45720" bIns="27432" anchor="ctr">
            <a:spAutoFit/>
          </a:bodyPr>
          <a:lstStyle/>
          <a:p>
            <a:pPr algn="r"/>
            <a:r>
              <a:rPr sz="1200" b="0">
                <a:solidFill>
                  <a:srgbClr val="5F6973"/>
                </a:solidFill>
                <a:latin typeface="Yu Gothic"/>
              </a:rPr>
              <a:t>2</a:t>
            </a:r>
          </a:p>
        </p:txBody>
      </p:sp>
      <p:sp>
        <p:nvSpPr>
          <p:cNvPr id="4" name="Rectangle 3"/>
          <p:cNvSpPr/>
          <p:nvPr/>
        </p:nvSpPr>
        <p:spPr>
          <a:xfrm>
            <a:off x="502920" y="822960"/>
            <a:ext cx="11155680" cy="22860"/>
          </a:xfrm>
          <a:prstGeom prst="rect">
            <a:avLst/>
          </a:prstGeom>
          <a:solidFill>
            <a:srgbClr val="375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060323"/>
            <a:ext cx="10972800" cy="393954"/>
          </a:xfrm>
          <a:prstGeom prst="rect">
            <a:avLst/>
          </a:prstGeom>
          <a:noFill/>
        </p:spPr>
        <p:txBody>
          <a:bodyPr wrap="square" lIns="45720" tIns="27432" rIns="45720" bIns="27432" anchor="ctr">
            <a:spAutoFit/>
          </a:bodyPr>
          <a:lstStyle/>
          <a:p>
            <a:pPr algn="l"/>
            <a:r>
              <a:rPr sz="2200" b="1" dirty="0" err="1">
                <a:solidFill>
                  <a:srgbClr val="375F8C"/>
                </a:solidFill>
                <a:latin typeface="Yu Gothic"/>
              </a:rPr>
              <a:t>筋力トレーニングのフォームを、カメラ映像から客観的に評価</a:t>
            </a:r>
            <a:endParaRPr sz="2200" b="1" dirty="0">
              <a:solidFill>
                <a:srgbClr val="375F8C"/>
              </a:solidFill>
              <a:latin typeface="Yu Gothic"/>
            </a:endParaRPr>
          </a:p>
        </p:txBody>
      </p:sp>
      <p:sp>
        <p:nvSpPr>
          <p:cNvPr id="6" name="Rounded Rectangle 5"/>
          <p:cNvSpPr/>
          <p:nvPr/>
        </p:nvSpPr>
        <p:spPr>
          <a:xfrm>
            <a:off x="640080" y="1691640"/>
            <a:ext cx="3383280" cy="1234440"/>
          </a:xfrm>
          <a:prstGeom prst="roundRect">
            <a:avLst/>
          </a:prstGeom>
          <a:solidFill>
            <a:srgbClr val="E1EBF5"/>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0">
                <a:solidFill>
                  <a:srgbClr val="23282D"/>
                </a:solidFill>
                <a:latin typeface="Yu Gothic"/>
              </a:rPr>
              <a:t>フォーム評価
フォームが崩れると、狙った部位への負荷が十分でなくなる可能性</a:t>
            </a:r>
          </a:p>
        </p:txBody>
      </p:sp>
      <p:cxnSp>
        <p:nvCxnSpPr>
          <p:cNvPr id="7" name="Connector 6"/>
          <p:cNvCxnSpPr/>
          <p:nvPr/>
        </p:nvCxnSpPr>
        <p:spPr>
          <a:xfrm>
            <a:off x="4069080" y="2304288"/>
            <a:ext cx="457200" cy="0"/>
          </a:xfrm>
          <a:prstGeom prst="line">
            <a:avLst/>
          </a:prstGeom>
          <a:ln w="31750">
            <a:solidFill>
              <a:srgbClr val="375F8C"/>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572000" y="1691640"/>
            <a:ext cx="3063240" cy="1234440"/>
          </a:xfrm>
          <a:prstGeom prst="roundRect">
            <a:avLst/>
          </a:prstGeom>
          <a:solidFill>
            <a:srgbClr val="F2F4F7"/>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0">
                <a:solidFill>
                  <a:srgbClr val="23282D"/>
                </a:solidFill>
                <a:latin typeface="Yu Gothic"/>
              </a:rPr>
              <a:t>姿勢推定
カメラ映像 → ランドマーク → 関節角度などを計算</a:t>
            </a:r>
          </a:p>
        </p:txBody>
      </p:sp>
      <p:cxnSp>
        <p:nvCxnSpPr>
          <p:cNvPr id="9" name="Connector 8"/>
          <p:cNvCxnSpPr/>
          <p:nvPr/>
        </p:nvCxnSpPr>
        <p:spPr>
          <a:xfrm>
            <a:off x="7680960" y="2304288"/>
            <a:ext cx="411480" cy="0"/>
          </a:xfrm>
          <a:prstGeom prst="line">
            <a:avLst/>
          </a:prstGeom>
          <a:ln w="31750">
            <a:solidFill>
              <a:srgbClr val="375F8C"/>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138160" y="1691640"/>
            <a:ext cx="3337560" cy="1234440"/>
          </a:xfrm>
          <a:prstGeom prst="roundRect">
            <a:avLst/>
          </a:prstGeom>
          <a:solidFill>
            <a:srgbClr val="F2F4F7"/>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0">
                <a:solidFill>
                  <a:srgbClr val="23282D"/>
                </a:solidFill>
                <a:latin typeface="Yu Gothic"/>
              </a:rPr>
              <a:t>条件との比較
設定した条件と比較して評価</a:t>
            </a:r>
          </a:p>
        </p:txBody>
      </p:sp>
      <p:sp>
        <p:nvSpPr>
          <p:cNvPr id="11" name="TextBox 10"/>
          <p:cNvSpPr txBox="1"/>
          <p:nvPr/>
        </p:nvSpPr>
        <p:spPr>
          <a:xfrm>
            <a:off x="1238214" y="3323463"/>
            <a:ext cx="3657600" cy="393954"/>
          </a:xfrm>
          <a:prstGeom prst="rect">
            <a:avLst/>
          </a:prstGeom>
          <a:noFill/>
        </p:spPr>
        <p:txBody>
          <a:bodyPr wrap="square" lIns="45720" tIns="27432" rIns="45720" bIns="27432" anchor="ctr">
            <a:spAutoFit/>
          </a:bodyPr>
          <a:lstStyle/>
          <a:p>
            <a:pPr algn="l"/>
            <a:r>
              <a:rPr lang="ja-JP" altLang="en-US" sz="2200" b="1" dirty="0">
                <a:solidFill>
                  <a:srgbClr val="AA4646"/>
                </a:solidFill>
                <a:latin typeface="Yu Gothic"/>
              </a:rPr>
              <a:t>種目追加の問題</a:t>
            </a:r>
            <a:endParaRPr sz="2200" b="1" dirty="0">
              <a:solidFill>
                <a:srgbClr val="AA4646"/>
              </a:solidFill>
              <a:latin typeface="Yu Gothic"/>
            </a:endParaRPr>
          </a:p>
        </p:txBody>
      </p:sp>
      <p:sp>
        <p:nvSpPr>
          <p:cNvPr id="12" name="TextBox 11"/>
          <p:cNvSpPr txBox="1"/>
          <p:nvPr/>
        </p:nvSpPr>
        <p:spPr>
          <a:xfrm>
            <a:off x="822960" y="3794760"/>
            <a:ext cx="6583680" cy="1645920"/>
          </a:xfrm>
          <a:prstGeom prst="rect">
            <a:avLst/>
          </a:prstGeom>
          <a:noFill/>
        </p:spPr>
        <p:txBody>
          <a:bodyPr wrap="square">
            <a:spAutoFit/>
          </a:bodyPr>
          <a:lstStyle/>
          <a:p>
            <a:pPr>
              <a:spcAft>
                <a:spcPts val="800"/>
              </a:spcAft>
              <a:defRPr sz="1900">
                <a:solidFill>
                  <a:srgbClr val="23282D"/>
                </a:solidFill>
                <a:latin typeface="Yu Gothic"/>
              </a:defRPr>
            </a:pPr>
            <a:r>
              <a:t>・対象となる関節が異なる</a:t>
            </a:r>
          </a:p>
          <a:p>
            <a:pPr>
              <a:spcAft>
                <a:spcPts val="800"/>
              </a:spcAft>
              <a:defRPr sz="1900">
                <a:solidFill>
                  <a:srgbClr val="23282D"/>
                </a:solidFill>
                <a:latin typeface="Yu Gothic"/>
              </a:defRPr>
            </a:pPr>
            <a:r>
              <a:t>・目標角度・許容範囲・比較条件が異なる</a:t>
            </a:r>
          </a:p>
          <a:p>
            <a:pPr>
              <a:spcAft>
                <a:spcPts val="800"/>
              </a:spcAft>
              <a:defRPr sz="1900">
                <a:solidFill>
                  <a:srgbClr val="23282D"/>
                </a:solidFill>
                <a:latin typeface="Yu Gothic"/>
              </a:defRPr>
            </a:pPr>
            <a:r>
              <a:t>・種目追加のたびにプログラム修正が必要になる</a:t>
            </a:r>
          </a:p>
        </p:txBody>
      </p:sp>
      <p:sp>
        <p:nvSpPr>
          <p:cNvPr id="13" name="Rounded Rectangle 12"/>
          <p:cNvSpPr/>
          <p:nvPr/>
        </p:nvSpPr>
        <p:spPr>
          <a:xfrm>
            <a:off x="7818120" y="3749039"/>
            <a:ext cx="3383280" cy="1417320"/>
          </a:xfrm>
          <a:prstGeom prst="roundRect">
            <a:avLst/>
          </a:prstGeom>
          <a:solidFill>
            <a:srgbClr val="FAEBEB"/>
          </a:solidFill>
          <a:ln>
            <a:solidFill>
              <a:srgbClr val="DCB9B9"/>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000" b="1">
                <a:solidFill>
                  <a:srgbClr val="AA4646"/>
                </a:solidFill>
                <a:latin typeface="Yu Gothic"/>
              </a:rPr>
              <a:t>種目数が増えるほど
修正・保守の負担が増える</a:t>
            </a:r>
          </a:p>
        </p:txBody>
      </p:sp>
      <p:sp>
        <p:nvSpPr>
          <p:cNvPr id="14" name="TextBox 13"/>
          <p:cNvSpPr txBox="1"/>
          <p:nvPr/>
        </p:nvSpPr>
        <p:spPr>
          <a:xfrm>
            <a:off x="502920" y="6510528"/>
            <a:ext cx="3657600" cy="182880"/>
          </a:xfrm>
          <a:prstGeom prst="rect">
            <a:avLst/>
          </a:prstGeom>
          <a:noFill/>
        </p:spPr>
        <p:txBody>
          <a:bodyPr wrap="square" lIns="45720" tIns="27432" rIns="45720" bIns="27432" anchor="ctr">
            <a:spAutoFit/>
          </a:bodyPr>
          <a:lstStyle/>
          <a:p>
            <a:pPr algn="l"/>
            <a:r>
              <a:rPr sz="900" b="0">
                <a:solidFill>
                  <a:srgbClr val="5F6973"/>
                </a:solidFill>
                <a:latin typeface="Yu Gothic"/>
              </a:rPr>
              <a:t>卒業研究・中間発表</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0698480" cy="502920"/>
          </a:xfrm>
          <a:prstGeom prst="rect">
            <a:avLst/>
          </a:prstGeom>
          <a:noFill/>
        </p:spPr>
        <p:txBody>
          <a:bodyPr wrap="square" lIns="45720" tIns="27432" rIns="45720" bIns="27432" anchor="ctr">
            <a:spAutoFit/>
          </a:bodyPr>
          <a:lstStyle/>
          <a:p>
            <a:pPr algn="l"/>
            <a:r>
              <a:rPr sz="2700" b="1">
                <a:solidFill>
                  <a:srgbClr val="23282D"/>
                </a:solidFill>
                <a:latin typeface="Yu Gothic"/>
              </a:rPr>
              <a:t>2. 先行研究と本研究の位置づけ</a:t>
            </a:r>
          </a:p>
        </p:txBody>
      </p:sp>
      <p:sp>
        <p:nvSpPr>
          <p:cNvPr id="3" name="TextBox 2"/>
          <p:cNvSpPr txBox="1"/>
          <p:nvPr/>
        </p:nvSpPr>
        <p:spPr>
          <a:xfrm>
            <a:off x="11247120" y="256032"/>
            <a:ext cx="457200" cy="274320"/>
          </a:xfrm>
          <a:prstGeom prst="rect">
            <a:avLst/>
          </a:prstGeom>
          <a:noFill/>
        </p:spPr>
        <p:txBody>
          <a:bodyPr wrap="square" lIns="45720" tIns="27432" rIns="45720" bIns="27432" anchor="ctr">
            <a:spAutoFit/>
          </a:bodyPr>
          <a:lstStyle/>
          <a:p>
            <a:pPr algn="r"/>
            <a:r>
              <a:rPr sz="1200" b="0">
                <a:solidFill>
                  <a:srgbClr val="5F6973"/>
                </a:solidFill>
                <a:latin typeface="Yu Gothic"/>
              </a:rPr>
              <a:t>3</a:t>
            </a:r>
          </a:p>
        </p:txBody>
      </p:sp>
      <p:sp>
        <p:nvSpPr>
          <p:cNvPr id="4" name="Rectangle 3"/>
          <p:cNvSpPr/>
          <p:nvPr/>
        </p:nvSpPr>
        <p:spPr>
          <a:xfrm>
            <a:off x="502920" y="822960"/>
            <a:ext cx="11155680" cy="22860"/>
          </a:xfrm>
          <a:prstGeom prst="rect">
            <a:avLst/>
          </a:prstGeom>
          <a:solidFill>
            <a:srgbClr val="375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097280"/>
            <a:ext cx="2743200" cy="365760"/>
          </a:xfrm>
          <a:prstGeom prst="rect">
            <a:avLst/>
          </a:prstGeom>
          <a:noFill/>
        </p:spPr>
        <p:txBody>
          <a:bodyPr wrap="square" lIns="45720" tIns="27432" rIns="45720" bIns="27432" anchor="ctr">
            <a:spAutoFit/>
          </a:bodyPr>
          <a:lstStyle/>
          <a:p>
            <a:pPr algn="l"/>
            <a:r>
              <a:rPr sz="2300" b="1">
                <a:solidFill>
                  <a:srgbClr val="375F8C"/>
                </a:solidFill>
                <a:latin typeface="Yu Gothic"/>
              </a:rPr>
              <a:t>先行研究</a:t>
            </a:r>
          </a:p>
        </p:txBody>
      </p:sp>
      <p:sp>
        <p:nvSpPr>
          <p:cNvPr id="6" name="TextBox 5"/>
          <p:cNvSpPr txBox="1"/>
          <p:nvPr/>
        </p:nvSpPr>
        <p:spPr>
          <a:xfrm>
            <a:off x="777240" y="1600200"/>
            <a:ext cx="5029200" cy="2103120"/>
          </a:xfrm>
          <a:prstGeom prst="rect">
            <a:avLst/>
          </a:prstGeom>
          <a:noFill/>
        </p:spPr>
        <p:txBody>
          <a:bodyPr wrap="square">
            <a:spAutoFit/>
          </a:bodyPr>
          <a:lstStyle/>
          <a:p>
            <a:pPr>
              <a:spcAft>
                <a:spcPts val="800"/>
              </a:spcAft>
              <a:defRPr sz="1800">
                <a:solidFill>
                  <a:srgbClr val="23282D"/>
                </a:solidFill>
                <a:latin typeface="Yu Gothic"/>
              </a:defRPr>
            </a:pPr>
            <a:r>
              <a:t>・姿勢推定を用いた運動評価が行われている</a:t>
            </a:r>
          </a:p>
          <a:p>
            <a:pPr>
              <a:spcAft>
                <a:spcPts val="800"/>
              </a:spcAft>
              <a:defRPr sz="1800">
                <a:solidFill>
                  <a:srgbClr val="23282D"/>
                </a:solidFill>
                <a:latin typeface="Yu Gothic"/>
              </a:defRPr>
            </a:pPr>
            <a:r>
              <a:t>・関節角度などを用いて運動を定量化する研究がある</a:t>
            </a:r>
          </a:p>
          <a:p>
            <a:pPr>
              <a:spcAft>
                <a:spcPts val="800"/>
              </a:spcAft>
              <a:defRPr sz="1800">
                <a:solidFill>
                  <a:srgbClr val="23282D"/>
                </a:solidFill>
                <a:latin typeface="Yu Gothic"/>
              </a:defRPr>
            </a:pPr>
            <a:r>
              <a:t>・MediaPipeなどを用いた姿勢推定手法も利用されている</a:t>
            </a:r>
          </a:p>
        </p:txBody>
      </p:sp>
      <p:sp>
        <p:nvSpPr>
          <p:cNvPr id="7" name="Rounded Rectangle 6"/>
          <p:cNvSpPr/>
          <p:nvPr/>
        </p:nvSpPr>
        <p:spPr>
          <a:xfrm>
            <a:off x="868680" y="4114800"/>
            <a:ext cx="4480560" cy="1143000"/>
          </a:xfrm>
          <a:prstGeom prst="roundRect">
            <a:avLst/>
          </a:prstGeom>
          <a:solidFill>
            <a:srgbClr val="E1EBF5"/>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900" b="1">
                <a:solidFill>
                  <a:srgbClr val="23282D"/>
                </a:solidFill>
                <a:latin typeface="Yu Gothic"/>
              </a:rPr>
              <a:t>既存研究
姿勢推定・関節角度などを用いた
運動の評価</a:t>
            </a:r>
          </a:p>
        </p:txBody>
      </p:sp>
      <p:cxnSp>
        <p:nvCxnSpPr>
          <p:cNvPr id="8" name="Connector 7"/>
          <p:cNvCxnSpPr/>
          <p:nvPr/>
        </p:nvCxnSpPr>
        <p:spPr>
          <a:xfrm>
            <a:off x="5715000" y="2834640"/>
            <a:ext cx="685800" cy="0"/>
          </a:xfrm>
          <a:prstGeom prst="line">
            <a:avLst/>
          </a:prstGeom>
          <a:ln w="31750">
            <a:solidFill>
              <a:srgbClr val="375F8C"/>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720840" y="1097280"/>
            <a:ext cx="2743200" cy="365760"/>
          </a:xfrm>
          <a:prstGeom prst="rect">
            <a:avLst/>
          </a:prstGeom>
          <a:noFill/>
        </p:spPr>
        <p:txBody>
          <a:bodyPr wrap="square" lIns="45720" tIns="27432" rIns="45720" bIns="27432" anchor="ctr">
            <a:spAutoFit/>
          </a:bodyPr>
          <a:lstStyle/>
          <a:p>
            <a:pPr algn="l"/>
            <a:r>
              <a:rPr sz="2300" b="1">
                <a:solidFill>
                  <a:srgbClr val="375F8C"/>
                </a:solidFill>
                <a:latin typeface="Yu Gothic"/>
              </a:rPr>
              <a:t>本研究</a:t>
            </a:r>
          </a:p>
        </p:txBody>
      </p:sp>
      <p:sp>
        <p:nvSpPr>
          <p:cNvPr id="10" name="Rounded Rectangle 9"/>
          <p:cNvSpPr/>
          <p:nvPr/>
        </p:nvSpPr>
        <p:spPr>
          <a:xfrm>
            <a:off x="6675120" y="1645920"/>
            <a:ext cx="4572000" cy="1463040"/>
          </a:xfrm>
          <a:prstGeom prst="roundRect">
            <a:avLst/>
          </a:prstGeom>
          <a:solidFill>
            <a:srgbClr val="F2F4F7"/>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000" b="1">
                <a:solidFill>
                  <a:srgbClr val="23282D"/>
                </a:solidFill>
                <a:latin typeface="Yu Gothic"/>
              </a:rPr>
              <a:t>評価精度そのものではなく、
複数種目へ対応する際の
プログラム構成・共通化に着目</a:t>
            </a:r>
          </a:p>
        </p:txBody>
      </p:sp>
      <p:sp>
        <p:nvSpPr>
          <p:cNvPr id="11" name="TextBox 10"/>
          <p:cNvSpPr txBox="1"/>
          <p:nvPr/>
        </p:nvSpPr>
        <p:spPr>
          <a:xfrm>
            <a:off x="6720840" y="3520440"/>
            <a:ext cx="4572000" cy="1920240"/>
          </a:xfrm>
          <a:prstGeom prst="rect">
            <a:avLst/>
          </a:prstGeom>
          <a:noFill/>
        </p:spPr>
        <p:txBody>
          <a:bodyPr wrap="square">
            <a:spAutoFit/>
          </a:bodyPr>
          <a:lstStyle/>
          <a:p>
            <a:pPr>
              <a:spcAft>
                <a:spcPts val="800"/>
              </a:spcAft>
              <a:defRPr sz="1800">
                <a:solidFill>
                  <a:srgbClr val="23282D"/>
                </a:solidFill>
                <a:latin typeface="Yu Gothic"/>
              </a:defRPr>
            </a:pPr>
            <a:r>
              <a:t>・種目固有の違いを設定として分離できるか</a:t>
            </a:r>
          </a:p>
          <a:p>
            <a:pPr>
              <a:spcAft>
                <a:spcPts val="800"/>
              </a:spcAft>
              <a:defRPr sz="1800">
                <a:solidFill>
                  <a:srgbClr val="23282D"/>
                </a:solidFill>
                <a:latin typeface="Yu Gothic"/>
              </a:defRPr>
            </a:pPr>
            <a:r>
              <a:t>・共通処理をどこまで利用できるか</a:t>
            </a:r>
          </a:p>
          <a:p>
            <a:pPr>
              <a:spcAft>
                <a:spcPts val="800"/>
              </a:spcAft>
              <a:defRPr sz="1800">
                <a:solidFill>
                  <a:srgbClr val="23282D"/>
                </a:solidFill>
                <a:latin typeface="Yu Gothic"/>
              </a:defRPr>
            </a:pPr>
            <a:r>
              <a:t>・種目追加時のプログラム修正をどの程度減らせるか</a:t>
            </a:r>
          </a:p>
        </p:txBody>
      </p:sp>
      <p:sp>
        <p:nvSpPr>
          <p:cNvPr id="12" name="TextBox 11"/>
          <p:cNvSpPr txBox="1"/>
          <p:nvPr/>
        </p:nvSpPr>
        <p:spPr>
          <a:xfrm>
            <a:off x="502920" y="6510528"/>
            <a:ext cx="3657600" cy="182880"/>
          </a:xfrm>
          <a:prstGeom prst="rect">
            <a:avLst/>
          </a:prstGeom>
          <a:noFill/>
        </p:spPr>
        <p:txBody>
          <a:bodyPr wrap="square" lIns="45720" tIns="27432" rIns="45720" bIns="27432" anchor="ctr">
            <a:spAutoFit/>
          </a:bodyPr>
          <a:lstStyle/>
          <a:p>
            <a:pPr algn="l"/>
            <a:r>
              <a:rPr sz="900" b="0">
                <a:solidFill>
                  <a:srgbClr val="5F6973"/>
                </a:solidFill>
                <a:latin typeface="Yu Gothic"/>
              </a:rPr>
              <a:t>卒業研究・中間発表</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0698480" cy="502920"/>
          </a:xfrm>
          <a:prstGeom prst="rect">
            <a:avLst/>
          </a:prstGeom>
          <a:noFill/>
        </p:spPr>
        <p:txBody>
          <a:bodyPr wrap="square" lIns="45720" tIns="27432" rIns="45720" bIns="27432" anchor="ctr">
            <a:spAutoFit/>
          </a:bodyPr>
          <a:lstStyle/>
          <a:p>
            <a:pPr algn="l"/>
            <a:r>
              <a:rPr sz="2700" b="1">
                <a:solidFill>
                  <a:srgbClr val="23282D"/>
                </a:solidFill>
                <a:latin typeface="Yu Gothic"/>
              </a:rPr>
              <a:t>3. 研究目的・研究課題</a:t>
            </a:r>
          </a:p>
        </p:txBody>
      </p:sp>
      <p:sp>
        <p:nvSpPr>
          <p:cNvPr id="3" name="TextBox 2"/>
          <p:cNvSpPr txBox="1"/>
          <p:nvPr/>
        </p:nvSpPr>
        <p:spPr>
          <a:xfrm>
            <a:off x="11247120" y="256032"/>
            <a:ext cx="457200" cy="274320"/>
          </a:xfrm>
          <a:prstGeom prst="rect">
            <a:avLst/>
          </a:prstGeom>
          <a:noFill/>
        </p:spPr>
        <p:txBody>
          <a:bodyPr wrap="square" lIns="45720" tIns="27432" rIns="45720" bIns="27432" anchor="ctr">
            <a:spAutoFit/>
          </a:bodyPr>
          <a:lstStyle/>
          <a:p>
            <a:pPr algn="r"/>
            <a:r>
              <a:rPr sz="1200" b="0">
                <a:solidFill>
                  <a:srgbClr val="5F6973"/>
                </a:solidFill>
                <a:latin typeface="Yu Gothic"/>
              </a:rPr>
              <a:t>4</a:t>
            </a:r>
          </a:p>
        </p:txBody>
      </p:sp>
      <p:sp>
        <p:nvSpPr>
          <p:cNvPr id="4" name="Rectangle 3"/>
          <p:cNvSpPr/>
          <p:nvPr/>
        </p:nvSpPr>
        <p:spPr>
          <a:xfrm>
            <a:off x="502920" y="822960"/>
            <a:ext cx="11155680" cy="22860"/>
          </a:xfrm>
          <a:prstGeom prst="rect">
            <a:avLst/>
          </a:prstGeom>
          <a:solidFill>
            <a:srgbClr val="375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143000"/>
            <a:ext cx="2560320" cy="365760"/>
          </a:xfrm>
          <a:prstGeom prst="rect">
            <a:avLst/>
          </a:prstGeom>
          <a:noFill/>
        </p:spPr>
        <p:txBody>
          <a:bodyPr wrap="square" lIns="45720" tIns="27432" rIns="45720" bIns="27432" anchor="ctr">
            <a:spAutoFit/>
          </a:bodyPr>
          <a:lstStyle/>
          <a:p>
            <a:pPr algn="l"/>
            <a:r>
              <a:rPr sz="2300" b="1">
                <a:solidFill>
                  <a:srgbClr val="375F8C"/>
                </a:solidFill>
                <a:latin typeface="Yu Gothic"/>
              </a:rPr>
              <a:t>研究目的</a:t>
            </a:r>
          </a:p>
        </p:txBody>
      </p:sp>
      <p:sp>
        <p:nvSpPr>
          <p:cNvPr id="6" name="Rounded Rectangle 5"/>
          <p:cNvSpPr/>
          <p:nvPr/>
        </p:nvSpPr>
        <p:spPr>
          <a:xfrm>
            <a:off x="777240" y="1645920"/>
            <a:ext cx="10561320" cy="1051560"/>
          </a:xfrm>
          <a:prstGeom prst="roundRect">
            <a:avLst/>
          </a:prstGeom>
          <a:solidFill>
            <a:srgbClr val="E1EBF5"/>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200" b="1">
                <a:solidFill>
                  <a:srgbClr val="23282D"/>
                </a:solidFill>
                <a:latin typeface="Yu Gothic"/>
              </a:rPr>
              <a:t>種目を追加するときに既存のプログラムを修正する負担を減らしながら、
評価処理を追加できる構成を考える。</a:t>
            </a:r>
          </a:p>
        </p:txBody>
      </p:sp>
      <p:sp>
        <p:nvSpPr>
          <p:cNvPr id="7" name="TextBox 6"/>
          <p:cNvSpPr txBox="1"/>
          <p:nvPr/>
        </p:nvSpPr>
        <p:spPr>
          <a:xfrm>
            <a:off x="685800" y="3017520"/>
            <a:ext cx="2926080" cy="365760"/>
          </a:xfrm>
          <a:prstGeom prst="rect">
            <a:avLst/>
          </a:prstGeom>
          <a:noFill/>
        </p:spPr>
        <p:txBody>
          <a:bodyPr wrap="square" lIns="45720" tIns="27432" rIns="45720" bIns="27432" anchor="ctr">
            <a:spAutoFit/>
          </a:bodyPr>
          <a:lstStyle/>
          <a:p>
            <a:pPr algn="l"/>
            <a:r>
              <a:rPr sz="2300" b="1">
                <a:solidFill>
                  <a:srgbClr val="375F8C"/>
                </a:solidFill>
                <a:latin typeface="Yu Gothic"/>
              </a:rPr>
              <a:t>研究課題（RQ）</a:t>
            </a:r>
          </a:p>
        </p:txBody>
      </p:sp>
      <p:sp>
        <p:nvSpPr>
          <p:cNvPr id="8" name="Rounded Rectangle 7"/>
          <p:cNvSpPr/>
          <p:nvPr/>
        </p:nvSpPr>
        <p:spPr>
          <a:xfrm>
            <a:off x="777240" y="3566160"/>
            <a:ext cx="5074920" cy="1234440"/>
          </a:xfrm>
          <a:prstGeom prst="roundRect">
            <a:avLst/>
          </a:prstGeom>
          <a:solidFill>
            <a:srgbClr val="F2F4F7"/>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900" b="0">
                <a:solidFill>
                  <a:srgbClr val="23282D"/>
                </a:solidFill>
                <a:latin typeface="Yu Gothic"/>
              </a:rPr>
              <a:t>関節指定・目標角度・判定条件などを、
どこまで設定データの変更だけで扱えるかを確認する。</a:t>
            </a:r>
          </a:p>
        </p:txBody>
      </p:sp>
      <p:sp>
        <p:nvSpPr>
          <p:cNvPr id="9" name="Rounded Rectangle 8"/>
          <p:cNvSpPr/>
          <p:nvPr/>
        </p:nvSpPr>
        <p:spPr>
          <a:xfrm>
            <a:off x="6172200" y="3566160"/>
            <a:ext cx="5074920" cy="1234440"/>
          </a:xfrm>
          <a:prstGeom prst="roundRect">
            <a:avLst/>
          </a:prstGeom>
          <a:solidFill>
            <a:srgbClr val="F2F4F7"/>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900" b="0">
                <a:solidFill>
                  <a:srgbClr val="23282D"/>
                </a:solidFill>
                <a:latin typeface="Yu Gothic"/>
              </a:rPr>
              <a:t>設定だけでは対応できない場合に、
共通処理の追加・変更が必要なのか、
種目固有処理が必要なのかを確認する。</a:t>
            </a:r>
          </a:p>
        </p:txBody>
      </p:sp>
      <p:sp>
        <p:nvSpPr>
          <p:cNvPr id="10" name="TextBox 9"/>
          <p:cNvSpPr txBox="1"/>
          <p:nvPr/>
        </p:nvSpPr>
        <p:spPr>
          <a:xfrm>
            <a:off x="777240" y="5166360"/>
            <a:ext cx="10515600" cy="457200"/>
          </a:xfrm>
          <a:prstGeom prst="rect">
            <a:avLst/>
          </a:prstGeom>
          <a:noFill/>
        </p:spPr>
        <p:txBody>
          <a:bodyPr wrap="square" lIns="45720" tIns="27432" rIns="45720" bIns="27432" anchor="ctr">
            <a:spAutoFit/>
          </a:bodyPr>
          <a:lstStyle/>
          <a:p>
            <a:pPr algn="ctr"/>
            <a:r>
              <a:rPr sz="2100" b="1">
                <a:solidFill>
                  <a:srgbClr val="23282D"/>
                </a:solidFill>
                <a:latin typeface="Yu Gothic"/>
              </a:rPr>
              <a:t>設定変更・共通処理・種目固有処理の境界を明らかにする</a:t>
            </a:r>
          </a:p>
        </p:txBody>
      </p:sp>
      <p:sp>
        <p:nvSpPr>
          <p:cNvPr id="11" name="TextBox 10"/>
          <p:cNvSpPr txBox="1"/>
          <p:nvPr/>
        </p:nvSpPr>
        <p:spPr>
          <a:xfrm>
            <a:off x="502920" y="6510528"/>
            <a:ext cx="3657600" cy="182880"/>
          </a:xfrm>
          <a:prstGeom prst="rect">
            <a:avLst/>
          </a:prstGeom>
          <a:noFill/>
        </p:spPr>
        <p:txBody>
          <a:bodyPr wrap="square" lIns="45720" tIns="27432" rIns="45720" bIns="27432" anchor="ctr">
            <a:spAutoFit/>
          </a:bodyPr>
          <a:lstStyle/>
          <a:p>
            <a:pPr algn="l"/>
            <a:r>
              <a:rPr sz="900" b="0">
                <a:solidFill>
                  <a:srgbClr val="5F6973"/>
                </a:solidFill>
                <a:latin typeface="Yu Gothic"/>
              </a:rPr>
              <a:t>卒業研究・中間発表</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0698480" cy="502920"/>
          </a:xfrm>
          <a:prstGeom prst="rect">
            <a:avLst/>
          </a:prstGeom>
          <a:noFill/>
        </p:spPr>
        <p:txBody>
          <a:bodyPr wrap="square" lIns="45720" tIns="27432" rIns="45720" bIns="27432" anchor="ctr">
            <a:spAutoFit/>
          </a:bodyPr>
          <a:lstStyle/>
          <a:p>
            <a:pPr algn="l"/>
            <a:r>
              <a:rPr sz="2700" b="1">
                <a:solidFill>
                  <a:srgbClr val="23282D"/>
                </a:solidFill>
                <a:latin typeface="Yu Gothic"/>
              </a:rPr>
              <a:t>4. 想定するシステム構成</a:t>
            </a:r>
          </a:p>
        </p:txBody>
      </p:sp>
      <p:sp>
        <p:nvSpPr>
          <p:cNvPr id="3" name="TextBox 2"/>
          <p:cNvSpPr txBox="1"/>
          <p:nvPr/>
        </p:nvSpPr>
        <p:spPr>
          <a:xfrm>
            <a:off x="11247120" y="256032"/>
            <a:ext cx="457200" cy="274320"/>
          </a:xfrm>
          <a:prstGeom prst="rect">
            <a:avLst/>
          </a:prstGeom>
          <a:noFill/>
        </p:spPr>
        <p:txBody>
          <a:bodyPr wrap="square" lIns="45720" tIns="27432" rIns="45720" bIns="27432" anchor="ctr">
            <a:spAutoFit/>
          </a:bodyPr>
          <a:lstStyle/>
          <a:p>
            <a:pPr algn="r"/>
            <a:r>
              <a:rPr sz="1200" b="0">
                <a:solidFill>
                  <a:srgbClr val="5F6973"/>
                </a:solidFill>
                <a:latin typeface="Yu Gothic"/>
              </a:rPr>
              <a:t>5</a:t>
            </a:r>
          </a:p>
        </p:txBody>
      </p:sp>
      <p:sp>
        <p:nvSpPr>
          <p:cNvPr id="4" name="Rectangle 3"/>
          <p:cNvSpPr/>
          <p:nvPr/>
        </p:nvSpPr>
        <p:spPr>
          <a:xfrm>
            <a:off x="502920" y="822960"/>
            <a:ext cx="11155680" cy="22860"/>
          </a:xfrm>
          <a:prstGeom prst="rect">
            <a:avLst/>
          </a:prstGeom>
          <a:solidFill>
            <a:srgbClr val="375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874519"/>
            <a:ext cx="1645920" cy="1143000"/>
          </a:xfrm>
          <a:prstGeom prst="roundRect">
            <a:avLst/>
          </a:prstGeom>
          <a:solidFill>
            <a:srgbClr val="F2F4F7"/>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0">
                <a:solidFill>
                  <a:srgbClr val="23282D"/>
                </a:solidFill>
                <a:latin typeface="Yu Gothic"/>
              </a:rPr>
              <a:t>カメラ映像</a:t>
            </a:r>
          </a:p>
        </p:txBody>
      </p:sp>
      <p:sp>
        <p:nvSpPr>
          <p:cNvPr id="6" name="Rounded Rectangle 5"/>
          <p:cNvSpPr/>
          <p:nvPr/>
        </p:nvSpPr>
        <p:spPr>
          <a:xfrm>
            <a:off x="2743200" y="1874519"/>
            <a:ext cx="1645920" cy="1143000"/>
          </a:xfrm>
          <a:prstGeom prst="roundRect">
            <a:avLst/>
          </a:prstGeom>
          <a:solidFill>
            <a:srgbClr val="F2F4F7"/>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0">
                <a:solidFill>
                  <a:srgbClr val="23282D"/>
                </a:solidFill>
                <a:latin typeface="Yu Gothic"/>
              </a:rPr>
              <a:t>姿勢推定
MediaPipe</a:t>
            </a:r>
          </a:p>
        </p:txBody>
      </p:sp>
      <p:sp>
        <p:nvSpPr>
          <p:cNvPr id="7" name="Rounded Rectangle 6"/>
          <p:cNvSpPr/>
          <p:nvPr/>
        </p:nvSpPr>
        <p:spPr>
          <a:xfrm>
            <a:off x="4800600" y="1874519"/>
            <a:ext cx="1645920" cy="1143000"/>
          </a:xfrm>
          <a:prstGeom prst="roundRect">
            <a:avLst/>
          </a:prstGeom>
          <a:solidFill>
            <a:srgbClr val="F2F4F7"/>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0">
                <a:solidFill>
                  <a:srgbClr val="23282D"/>
                </a:solidFill>
                <a:latin typeface="Yu Gothic"/>
              </a:rPr>
              <a:t>ランドマーク</a:t>
            </a:r>
          </a:p>
        </p:txBody>
      </p:sp>
      <p:sp>
        <p:nvSpPr>
          <p:cNvPr id="8" name="Rounded Rectangle 7"/>
          <p:cNvSpPr/>
          <p:nvPr/>
        </p:nvSpPr>
        <p:spPr>
          <a:xfrm>
            <a:off x="6858000" y="1874519"/>
            <a:ext cx="2377440" cy="1143000"/>
          </a:xfrm>
          <a:prstGeom prst="roundRect">
            <a:avLst/>
          </a:prstGeom>
          <a:solidFill>
            <a:srgbClr val="E1EBF5"/>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1">
                <a:solidFill>
                  <a:srgbClr val="23282D"/>
                </a:solidFill>
                <a:latin typeface="Yu Gothic"/>
              </a:rPr>
              <a:t>共通処理
3点取得 → 角度計算 → 判定</a:t>
            </a:r>
          </a:p>
        </p:txBody>
      </p:sp>
      <p:sp>
        <p:nvSpPr>
          <p:cNvPr id="9" name="Rounded Rectangle 8"/>
          <p:cNvSpPr/>
          <p:nvPr/>
        </p:nvSpPr>
        <p:spPr>
          <a:xfrm>
            <a:off x="9966960" y="1874519"/>
            <a:ext cx="1554480" cy="1143000"/>
          </a:xfrm>
          <a:prstGeom prst="roundRect">
            <a:avLst/>
          </a:prstGeom>
          <a:solidFill>
            <a:srgbClr val="F2F4F7"/>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0">
                <a:solidFill>
                  <a:srgbClr val="23282D"/>
                </a:solidFill>
                <a:latin typeface="Yu Gothic"/>
              </a:rPr>
              <a:t>評価結果
表示</a:t>
            </a:r>
          </a:p>
        </p:txBody>
      </p:sp>
      <p:cxnSp>
        <p:nvCxnSpPr>
          <p:cNvPr id="10" name="Connector 9"/>
          <p:cNvCxnSpPr/>
          <p:nvPr/>
        </p:nvCxnSpPr>
        <p:spPr>
          <a:xfrm>
            <a:off x="2331720" y="2450592"/>
            <a:ext cx="365760" cy="0"/>
          </a:xfrm>
          <a:prstGeom prst="line">
            <a:avLst/>
          </a:prstGeom>
          <a:ln w="31750">
            <a:solidFill>
              <a:srgbClr val="375F8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434840" y="2450592"/>
            <a:ext cx="320040" cy="0"/>
          </a:xfrm>
          <a:prstGeom prst="line">
            <a:avLst/>
          </a:prstGeom>
          <a:ln w="31750">
            <a:solidFill>
              <a:srgbClr val="375F8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492240" y="2450592"/>
            <a:ext cx="320040" cy="0"/>
          </a:xfrm>
          <a:prstGeom prst="line">
            <a:avLst/>
          </a:prstGeom>
          <a:ln w="31750">
            <a:solidFill>
              <a:srgbClr val="375F8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281160" y="2450592"/>
            <a:ext cx="640080" cy="0"/>
          </a:xfrm>
          <a:prstGeom prst="line">
            <a:avLst/>
          </a:prstGeom>
          <a:ln w="31750">
            <a:solidFill>
              <a:srgbClr val="375F8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743200" y="3794760"/>
            <a:ext cx="6675120" cy="1280160"/>
          </a:xfrm>
          <a:prstGeom prst="roundRect">
            <a:avLst/>
          </a:prstGeom>
          <a:solidFill>
            <a:srgbClr val="F7F2E8"/>
          </a:solidFill>
          <a:ln>
            <a:solidFill>
              <a:srgbClr val="DCCDAA"/>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900" b="0">
                <a:solidFill>
                  <a:srgbClr val="23282D"/>
                </a:solidFill>
                <a:latin typeface="Yu Gothic"/>
              </a:rPr>
              <a:t>種目別設定
① 角度計算に使う3点　② 目標角度　③ 許容範囲　④ 比較条件</a:t>
            </a:r>
          </a:p>
        </p:txBody>
      </p:sp>
      <p:sp>
        <p:nvSpPr>
          <p:cNvPr id="15" name="TextBox 14"/>
          <p:cNvSpPr txBox="1"/>
          <p:nvPr/>
        </p:nvSpPr>
        <p:spPr>
          <a:xfrm>
            <a:off x="914400" y="5486400"/>
            <a:ext cx="10332720" cy="411480"/>
          </a:xfrm>
          <a:prstGeom prst="rect">
            <a:avLst/>
          </a:prstGeom>
          <a:noFill/>
        </p:spPr>
        <p:txBody>
          <a:bodyPr wrap="square" lIns="45720" tIns="27432" rIns="45720" bIns="27432" anchor="ctr">
            <a:spAutoFit/>
          </a:bodyPr>
          <a:lstStyle/>
          <a:p>
            <a:pPr algn="ctr"/>
            <a:r>
              <a:rPr sz="2000" b="1">
                <a:solidFill>
                  <a:srgbClr val="375F8C"/>
                </a:solidFill>
                <a:latin typeface="Yu Gothic"/>
              </a:rPr>
              <a:t>種目固有の情報を設定として分離し、共通処理を複数の種目で利用する</a:t>
            </a:r>
          </a:p>
        </p:txBody>
      </p:sp>
      <p:sp>
        <p:nvSpPr>
          <p:cNvPr id="16" name="TextBox 15"/>
          <p:cNvSpPr txBox="1"/>
          <p:nvPr/>
        </p:nvSpPr>
        <p:spPr>
          <a:xfrm>
            <a:off x="502920" y="6510528"/>
            <a:ext cx="3657600" cy="182880"/>
          </a:xfrm>
          <a:prstGeom prst="rect">
            <a:avLst/>
          </a:prstGeom>
          <a:noFill/>
        </p:spPr>
        <p:txBody>
          <a:bodyPr wrap="square" lIns="45720" tIns="27432" rIns="45720" bIns="27432" anchor="ctr">
            <a:spAutoFit/>
          </a:bodyPr>
          <a:lstStyle/>
          <a:p>
            <a:pPr algn="l"/>
            <a:r>
              <a:rPr sz="900" b="0">
                <a:solidFill>
                  <a:srgbClr val="5F6973"/>
                </a:solidFill>
                <a:latin typeface="Yu Gothic"/>
              </a:rPr>
              <a:t>卒業研究・中間発表</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0698480" cy="502920"/>
          </a:xfrm>
          <a:prstGeom prst="rect">
            <a:avLst/>
          </a:prstGeom>
          <a:noFill/>
        </p:spPr>
        <p:txBody>
          <a:bodyPr wrap="square" lIns="45720" tIns="27432" rIns="45720" bIns="27432" anchor="ctr">
            <a:spAutoFit/>
          </a:bodyPr>
          <a:lstStyle/>
          <a:p>
            <a:pPr algn="l"/>
            <a:r>
              <a:rPr sz="2700" b="1">
                <a:solidFill>
                  <a:srgbClr val="23282D"/>
                </a:solidFill>
                <a:latin typeface="Yu Gothic"/>
              </a:rPr>
              <a:t>5. 対象種目と共通処理</a:t>
            </a:r>
          </a:p>
        </p:txBody>
      </p:sp>
      <p:sp>
        <p:nvSpPr>
          <p:cNvPr id="3" name="TextBox 2"/>
          <p:cNvSpPr txBox="1"/>
          <p:nvPr/>
        </p:nvSpPr>
        <p:spPr>
          <a:xfrm>
            <a:off x="11247120" y="256032"/>
            <a:ext cx="457200" cy="274320"/>
          </a:xfrm>
          <a:prstGeom prst="rect">
            <a:avLst/>
          </a:prstGeom>
          <a:noFill/>
        </p:spPr>
        <p:txBody>
          <a:bodyPr wrap="square" lIns="45720" tIns="27432" rIns="45720" bIns="27432" anchor="ctr">
            <a:spAutoFit/>
          </a:bodyPr>
          <a:lstStyle/>
          <a:p>
            <a:pPr algn="r"/>
            <a:r>
              <a:rPr sz="1200" b="0">
                <a:solidFill>
                  <a:srgbClr val="5F6973"/>
                </a:solidFill>
                <a:latin typeface="Yu Gothic"/>
              </a:rPr>
              <a:t>6</a:t>
            </a:r>
          </a:p>
        </p:txBody>
      </p:sp>
      <p:sp>
        <p:nvSpPr>
          <p:cNvPr id="4" name="Rectangle 3"/>
          <p:cNvSpPr/>
          <p:nvPr/>
        </p:nvSpPr>
        <p:spPr>
          <a:xfrm>
            <a:off x="502920" y="822960"/>
            <a:ext cx="11155680" cy="22860"/>
          </a:xfrm>
          <a:prstGeom prst="rect">
            <a:avLst/>
          </a:prstGeom>
          <a:solidFill>
            <a:srgbClr val="375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234440"/>
            <a:ext cx="5074920" cy="594360"/>
          </a:xfrm>
          <a:prstGeom prst="roundRect">
            <a:avLst/>
          </a:prstGeom>
          <a:solidFill>
            <a:srgbClr val="E1EBF5"/>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200" b="1">
                <a:solidFill>
                  <a:srgbClr val="23282D"/>
                </a:solidFill>
                <a:latin typeface="Yu Gothic"/>
              </a:rPr>
              <a:t>スクワット</a:t>
            </a:r>
          </a:p>
        </p:txBody>
      </p:sp>
      <p:sp>
        <p:nvSpPr>
          <p:cNvPr id="6" name="Rounded Rectangle 5"/>
          <p:cNvSpPr/>
          <p:nvPr/>
        </p:nvSpPr>
        <p:spPr>
          <a:xfrm>
            <a:off x="822960" y="1965960"/>
            <a:ext cx="4800600" cy="777240"/>
          </a:xfrm>
          <a:prstGeom prst="roundRect">
            <a:avLst/>
          </a:prstGeom>
          <a:solidFill>
            <a:srgbClr val="F2F4F7"/>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200" b="1" dirty="0" err="1">
                <a:solidFill>
                  <a:srgbClr val="23282D"/>
                </a:solidFill>
                <a:latin typeface="Yu Gothic"/>
              </a:rPr>
              <a:t>股関節</a:t>
            </a:r>
            <a:r>
              <a:rPr sz="2200" b="1" dirty="0">
                <a:solidFill>
                  <a:srgbClr val="23282D"/>
                </a:solidFill>
                <a:latin typeface="Yu Gothic"/>
              </a:rPr>
              <a:t> → 膝 → </a:t>
            </a:r>
            <a:r>
              <a:rPr sz="2200" b="1" dirty="0" err="1">
                <a:solidFill>
                  <a:srgbClr val="23282D"/>
                </a:solidFill>
                <a:latin typeface="Yu Gothic"/>
              </a:rPr>
              <a:t>足首</a:t>
            </a:r>
            <a:endParaRPr sz="2200" b="1" dirty="0">
              <a:solidFill>
                <a:srgbClr val="23282D"/>
              </a:solidFill>
              <a:latin typeface="Yu Gothic"/>
            </a:endParaRPr>
          </a:p>
        </p:txBody>
      </p:sp>
      <p:sp>
        <p:nvSpPr>
          <p:cNvPr id="7" name="TextBox 6"/>
          <p:cNvSpPr txBox="1"/>
          <p:nvPr/>
        </p:nvSpPr>
        <p:spPr>
          <a:xfrm>
            <a:off x="914400" y="2880360"/>
            <a:ext cx="4572000" cy="365760"/>
          </a:xfrm>
          <a:prstGeom prst="rect">
            <a:avLst/>
          </a:prstGeom>
          <a:noFill/>
        </p:spPr>
        <p:txBody>
          <a:bodyPr wrap="square" lIns="45720" tIns="27432" rIns="45720" bIns="27432" anchor="ctr">
            <a:spAutoFit/>
          </a:bodyPr>
          <a:lstStyle/>
          <a:p>
            <a:pPr algn="ctr"/>
            <a:r>
              <a:rPr sz="2000" b="0">
                <a:solidFill>
                  <a:srgbClr val="23282D"/>
                </a:solidFill>
                <a:latin typeface="Yu Gothic"/>
              </a:rPr>
              <a:t>評価：膝関節の角度</a:t>
            </a:r>
          </a:p>
        </p:txBody>
      </p:sp>
      <p:sp>
        <p:nvSpPr>
          <p:cNvPr id="8" name="TextBox 7"/>
          <p:cNvSpPr txBox="1"/>
          <p:nvPr/>
        </p:nvSpPr>
        <p:spPr>
          <a:xfrm>
            <a:off x="914400" y="3383280"/>
            <a:ext cx="4572000" cy="365760"/>
          </a:xfrm>
          <a:prstGeom prst="rect">
            <a:avLst/>
          </a:prstGeom>
          <a:noFill/>
        </p:spPr>
        <p:txBody>
          <a:bodyPr wrap="square" lIns="45720" tIns="27432" rIns="45720" bIns="27432" anchor="ctr">
            <a:spAutoFit/>
          </a:bodyPr>
          <a:lstStyle/>
          <a:p>
            <a:pPr algn="ctr"/>
            <a:r>
              <a:rPr sz="1900" b="0">
                <a:solidFill>
                  <a:srgbClr val="23282D"/>
                </a:solidFill>
                <a:latin typeface="Yu Gothic"/>
              </a:rPr>
              <a:t>目標：90°　　許容範囲：±15°</a:t>
            </a:r>
          </a:p>
        </p:txBody>
      </p:sp>
      <p:sp>
        <p:nvSpPr>
          <p:cNvPr id="9" name="Rounded Rectangle 8"/>
          <p:cNvSpPr/>
          <p:nvPr/>
        </p:nvSpPr>
        <p:spPr>
          <a:xfrm>
            <a:off x="6400800" y="1234440"/>
            <a:ext cx="5074920" cy="594360"/>
          </a:xfrm>
          <a:prstGeom prst="roundRect">
            <a:avLst/>
          </a:prstGeom>
          <a:solidFill>
            <a:srgbClr val="E1EBF5"/>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200" b="1">
                <a:solidFill>
                  <a:srgbClr val="23282D"/>
                </a:solidFill>
                <a:latin typeface="Yu Gothic"/>
              </a:rPr>
              <a:t>アームカール</a:t>
            </a:r>
          </a:p>
        </p:txBody>
      </p:sp>
      <p:sp>
        <p:nvSpPr>
          <p:cNvPr id="10" name="Rounded Rectangle 9"/>
          <p:cNvSpPr/>
          <p:nvPr/>
        </p:nvSpPr>
        <p:spPr>
          <a:xfrm>
            <a:off x="6537960" y="1965960"/>
            <a:ext cx="4800600" cy="777240"/>
          </a:xfrm>
          <a:prstGeom prst="roundRect">
            <a:avLst/>
          </a:prstGeom>
          <a:solidFill>
            <a:srgbClr val="F2F4F7"/>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200" b="1">
                <a:solidFill>
                  <a:srgbClr val="23282D"/>
                </a:solidFill>
                <a:latin typeface="Yu Gothic"/>
              </a:rPr>
              <a:t>肩 → 肘 → 手首</a:t>
            </a:r>
          </a:p>
        </p:txBody>
      </p:sp>
      <p:sp>
        <p:nvSpPr>
          <p:cNvPr id="11" name="TextBox 10"/>
          <p:cNvSpPr txBox="1"/>
          <p:nvPr/>
        </p:nvSpPr>
        <p:spPr>
          <a:xfrm>
            <a:off x="6629400" y="2880360"/>
            <a:ext cx="4572000" cy="365760"/>
          </a:xfrm>
          <a:prstGeom prst="rect">
            <a:avLst/>
          </a:prstGeom>
          <a:noFill/>
        </p:spPr>
        <p:txBody>
          <a:bodyPr wrap="square" lIns="45720" tIns="27432" rIns="45720" bIns="27432" anchor="ctr">
            <a:spAutoFit/>
          </a:bodyPr>
          <a:lstStyle/>
          <a:p>
            <a:pPr algn="ctr"/>
            <a:r>
              <a:rPr sz="2000" b="0">
                <a:solidFill>
                  <a:srgbClr val="23282D"/>
                </a:solidFill>
                <a:latin typeface="Yu Gothic"/>
              </a:rPr>
              <a:t>評価：肘関節の角度</a:t>
            </a:r>
          </a:p>
        </p:txBody>
      </p:sp>
      <p:sp>
        <p:nvSpPr>
          <p:cNvPr id="12" name="TextBox 11"/>
          <p:cNvSpPr txBox="1"/>
          <p:nvPr/>
        </p:nvSpPr>
        <p:spPr>
          <a:xfrm>
            <a:off x="6629400" y="3383280"/>
            <a:ext cx="4572000" cy="365760"/>
          </a:xfrm>
          <a:prstGeom prst="rect">
            <a:avLst/>
          </a:prstGeom>
          <a:noFill/>
        </p:spPr>
        <p:txBody>
          <a:bodyPr wrap="square" lIns="45720" tIns="27432" rIns="45720" bIns="27432" anchor="ctr">
            <a:spAutoFit/>
          </a:bodyPr>
          <a:lstStyle/>
          <a:p>
            <a:pPr algn="ctr"/>
            <a:r>
              <a:rPr sz="1800" b="0">
                <a:solidFill>
                  <a:srgbClr val="5F6973"/>
                </a:solidFill>
                <a:latin typeface="Yu Gothic"/>
              </a:rPr>
              <a:t>対象ランドマークはスクワットと異なる</a:t>
            </a:r>
          </a:p>
        </p:txBody>
      </p:sp>
      <p:sp>
        <p:nvSpPr>
          <p:cNvPr id="13" name="Rounded Rectangle 12"/>
          <p:cNvSpPr/>
          <p:nvPr/>
        </p:nvSpPr>
        <p:spPr>
          <a:xfrm>
            <a:off x="2011680" y="4343400"/>
            <a:ext cx="8138160" cy="822960"/>
          </a:xfrm>
          <a:prstGeom prst="roundRect">
            <a:avLst/>
          </a:prstGeom>
          <a:solidFill>
            <a:srgbClr val="E8F2E8"/>
          </a:solidFill>
          <a:ln>
            <a:solidFill>
              <a:srgbClr val="B4CDB9"/>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300" b="1">
                <a:solidFill>
                  <a:srgbClr val="23282D"/>
                </a:solidFill>
                <a:latin typeface="Yu Gothic"/>
              </a:rPr>
              <a:t>3点 → 角度計算 → 比較</a:t>
            </a:r>
          </a:p>
        </p:txBody>
      </p:sp>
      <p:sp>
        <p:nvSpPr>
          <p:cNvPr id="14" name="TextBox 13"/>
          <p:cNvSpPr txBox="1"/>
          <p:nvPr/>
        </p:nvSpPr>
        <p:spPr>
          <a:xfrm>
            <a:off x="914400" y="5440680"/>
            <a:ext cx="10332720" cy="411480"/>
          </a:xfrm>
          <a:prstGeom prst="rect">
            <a:avLst/>
          </a:prstGeom>
          <a:noFill/>
        </p:spPr>
        <p:txBody>
          <a:bodyPr wrap="square" lIns="45720" tIns="27432" rIns="45720" bIns="27432" anchor="ctr">
            <a:spAutoFit/>
          </a:bodyPr>
          <a:lstStyle/>
          <a:p>
            <a:pPr algn="ctr"/>
            <a:r>
              <a:rPr sz="2000" b="1">
                <a:solidFill>
                  <a:srgbClr val="375F8C"/>
                </a:solidFill>
                <a:latin typeface="Yu Gothic"/>
              </a:rPr>
              <a:t>ここが共通なら、種目固有の違いを設定ファイルで指定できる可能性がある</a:t>
            </a:r>
          </a:p>
        </p:txBody>
      </p:sp>
      <p:sp>
        <p:nvSpPr>
          <p:cNvPr id="15" name="TextBox 14"/>
          <p:cNvSpPr txBox="1"/>
          <p:nvPr/>
        </p:nvSpPr>
        <p:spPr>
          <a:xfrm>
            <a:off x="777240" y="5925312"/>
            <a:ext cx="10698480" cy="365760"/>
          </a:xfrm>
          <a:prstGeom prst="rect">
            <a:avLst/>
          </a:prstGeom>
          <a:noFill/>
        </p:spPr>
        <p:txBody>
          <a:bodyPr wrap="square" lIns="45720" tIns="27432" rIns="45720" bIns="27432" anchor="ctr">
            <a:spAutoFit/>
          </a:bodyPr>
          <a:lstStyle/>
          <a:p>
            <a:pPr algn="ctr"/>
            <a:r>
              <a:rPr sz="1400" b="0">
                <a:solidFill>
                  <a:srgbClr val="AA4646"/>
                </a:solidFill>
                <a:latin typeface="Yu Gothic"/>
              </a:rPr>
              <a:t>※設定した角度条件への適合を判定するものであり、これだけで「正しいフォーム」と判断するものではない。</a:t>
            </a:r>
          </a:p>
        </p:txBody>
      </p:sp>
      <p:sp>
        <p:nvSpPr>
          <p:cNvPr id="16" name="TextBox 15"/>
          <p:cNvSpPr txBox="1"/>
          <p:nvPr/>
        </p:nvSpPr>
        <p:spPr>
          <a:xfrm>
            <a:off x="502920" y="6510528"/>
            <a:ext cx="3657600" cy="182880"/>
          </a:xfrm>
          <a:prstGeom prst="rect">
            <a:avLst/>
          </a:prstGeom>
          <a:noFill/>
        </p:spPr>
        <p:txBody>
          <a:bodyPr wrap="square" lIns="45720" tIns="27432" rIns="45720" bIns="27432" anchor="ctr">
            <a:spAutoFit/>
          </a:bodyPr>
          <a:lstStyle/>
          <a:p>
            <a:pPr algn="l"/>
            <a:r>
              <a:rPr sz="900" b="0">
                <a:solidFill>
                  <a:srgbClr val="5F6973"/>
                </a:solidFill>
                <a:latin typeface="Yu Gothic"/>
              </a:rPr>
              <a:t>卒業研究・中間発表</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0698480" cy="502920"/>
          </a:xfrm>
          <a:prstGeom prst="rect">
            <a:avLst/>
          </a:prstGeom>
          <a:noFill/>
        </p:spPr>
        <p:txBody>
          <a:bodyPr wrap="square" lIns="45720" tIns="27432" rIns="45720" bIns="27432" anchor="ctr">
            <a:spAutoFit/>
          </a:bodyPr>
          <a:lstStyle/>
          <a:p>
            <a:pPr algn="l"/>
            <a:r>
              <a:rPr sz="2700" b="1">
                <a:solidFill>
                  <a:srgbClr val="23282D"/>
                </a:solidFill>
                <a:latin typeface="Yu Gothic"/>
              </a:rPr>
              <a:t>6. 実装状況</a:t>
            </a:r>
          </a:p>
        </p:txBody>
      </p:sp>
      <p:sp>
        <p:nvSpPr>
          <p:cNvPr id="3" name="TextBox 2"/>
          <p:cNvSpPr txBox="1"/>
          <p:nvPr/>
        </p:nvSpPr>
        <p:spPr>
          <a:xfrm>
            <a:off x="11247120" y="256032"/>
            <a:ext cx="457200" cy="274320"/>
          </a:xfrm>
          <a:prstGeom prst="rect">
            <a:avLst/>
          </a:prstGeom>
          <a:noFill/>
        </p:spPr>
        <p:txBody>
          <a:bodyPr wrap="square" lIns="45720" tIns="27432" rIns="45720" bIns="27432" anchor="ctr">
            <a:spAutoFit/>
          </a:bodyPr>
          <a:lstStyle/>
          <a:p>
            <a:pPr algn="r"/>
            <a:r>
              <a:rPr sz="1200" b="0">
                <a:solidFill>
                  <a:srgbClr val="5F6973"/>
                </a:solidFill>
                <a:latin typeface="Yu Gothic"/>
              </a:rPr>
              <a:t>7</a:t>
            </a:r>
          </a:p>
        </p:txBody>
      </p:sp>
      <p:sp>
        <p:nvSpPr>
          <p:cNvPr id="4" name="Rectangle 3"/>
          <p:cNvSpPr/>
          <p:nvPr/>
        </p:nvSpPr>
        <p:spPr>
          <a:xfrm>
            <a:off x="502920" y="822960"/>
            <a:ext cx="11155680" cy="22860"/>
          </a:xfrm>
          <a:prstGeom prst="rect">
            <a:avLst/>
          </a:prstGeom>
          <a:solidFill>
            <a:srgbClr val="375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143000"/>
            <a:ext cx="5257800" cy="594360"/>
          </a:xfrm>
          <a:prstGeom prst="roundRect">
            <a:avLst/>
          </a:prstGeom>
          <a:solidFill>
            <a:srgbClr val="E8F2E8"/>
          </a:solidFill>
          <a:ln>
            <a:solidFill>
              <a:srgbClr val="B4CDB9"/>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100" b="1">
                <a:solidFill>
                  <a:srgbClr val="417850"/>
                </a:solidFill>
                <a:latin typeface="Yu Gothic"/>
              </a:rPr>
              <a:t>現在実装できていること</a:t>
            </a:r>
          </a:p>
        </p:txBody>
      </p:sp>
      <p:sp>
        <p:nvSpPr>
          <p:cNvPr id="6" name="TextBox 5"/>
          <p:cNvSpPr txBox="1"/>
          <p:nvPr/>
        </p:nvSpPr>
        <p:spPr>
          <a:xfrm>
            <a:off x="822960" y="1828800"/>
            <a:ext cx="4937760" cy="3931920"/>
          </a:xfrm>
          <a:prstGeom prst="rect">
            <a:avLst/>
          </a:prstGeom>
          <a:noFill/>
        </p:spPr>
        <p:txBody>
          <a:bodyPr wrap="square">
            <a:spAutoFit/>
          </a:bodyPr>
          <a:lstStyle/>
          <a:p>
            <a:pPr>
              <a:spcAft>
                <a:spcPts val="800"/>
              </a:spcAft>
              <a:defRPr sz="1800">
                <a:solidFill>
                  <a:srgbClr val="23282D"/>
                </a:solidFill>
                <a:latin typeface="Yu Gothic"/>
              </a:defRPr>
            </a:pPr>
            <a:r>
              <a:t>・Webカメラ映像の取得</a:t>
            </a:r>
          </a:p>
          <a:p>
            <a:pPr>
              <a:spcAft>
                <a:spcPts val="800"/>
              </a:spcAft>
              <a:defRPr sz="1800">
                <a:solidFill>
                  <a:srgbClr val="23282D"/>
                </a:solidFill>
                <a:latin typeface="Yu Gothic"/>
              </a:defRPr>
            </a:pPr>
            <a:r>
              <a:t>・MediaPipeによる姿勢推定</a:t>
            </a:r>
          </a:p>
          <a:p>
            <a:pPr>
              <a:spcAft>
                <a:spcPts val="800"/>
              </a:spcAft>
              <a:defRPr sz="1800">
                <a:solidFill>
                  <a:srgbClr val="23282D"/>
                </a:solidFill>
                <a:latin typeface="Yu Gothic"/>
              </a:defRPr>
            </a:pPr>
            <a:r>
              <a:t>・ランドマーク・骨格の表示</a:t>
            </a:r>
          </a:p>
          <a:p>
            <a:pPr>
              <a:spcAft>
                <a:spcPts val="800"/>
              </a:spcAft>
              <a:defRPr sz="1800">
                <a:solidFill>
                  <a:srgbClr val="23282D"/>
                </a:solidFill>
                <a:latin typeface="Yu Gothic"/>
              </a:defRPr>
            </a:pPr>
            <a:r>
              <a:t>・スクワットにおける膝角度の計算</a:t>
            </a:r>
          </a:p>
          <a:p>
            <a:pPr>
              <a:spcAft>
                <a:spcPts val="800"/>
              </a:spcAft>
              <a:defRPr sz="1800">
                <a:solidFill>
                  <a:srgbClr val="23282D"/>
                </a:solidFill>
                <a:latin typeface="Yu Gothic"/>
              </a:defRPr>
            </a:pPr>
            <a:r>
              <a:t>・目標角度・許容範囲との比較・判定</a:t>
            </a:r>
          </a:p>
          <a:p>
            <a:pPr>
              <a:spcAft>
                <a:spcPts val="800"/>
              </a:spcAft>
              <a:defRPr sz="1800">
                <a:solidFill>
                  <a:srgbClr val="23282D"/>
                </a:solidFill>
                <a:latin typeface="Yu Gothic"/>
              </a:defRPr>
            </a:pPr>
            <a:r>
              <a:t>・判定結果の表示</a:t>
            </a:r>
          </a:p>
          <a:p>
            <a:pPr>
              <a:spcAft>
                <a:spcPts val="800"/>
              </a:spcAft>
              <a:defRPr sz="1800">
                <a:solidFill>
                  <a:srgbClr val="23282D"/>
                </a:solidFill>
                <a:latin typeface="Yu Gothic"/>
              </a:defRPr>
            </a:pPr>
            <a:r>
              <a:t>・JSONから設定値を読み込む処理</a:t>
            </a:r>
          </a:p>
        </p:txBody>
      </p:sp>
      <p:sp>
        <p:nvSpPr>
          <p:cNvPr id="7" name="Rounded Rectangle 6"/>
          <p:cNvSpPr/>
          <p:nvPr/>
        </p:nvSpPr>
        <p:spPr>
          <a:xfrm>
            <a:off x="6263640" y="1143000"/>
            <a:ext cx="5257800" cy="594360"/>
          </a:xfrm>
          <a:prstGeom prst="roundRect">
            <a:avLst/>
          </a:prstGeom>
          <a:solidFill>
            <a:srgbClr val="FAEBEB"/>
          </a:solidFill>
          <a:ln>
            <a:solidFill>
              <a:srgbClr val="DCB9B9"/>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100" b="1">
                <a:solidFill>
                  <a:srgbClr val="AA4646"/>
                </a:solidFill>
                <a:latin typeface="Yu Gothic"/>
              </a:rPr>
              <a:t>現在の重要な未実装・未確認事項</a:t>
            </a:r>
          </a:p>
        </p:txBody>
      </p:sp>
      <p:sp>
        <p:nvSpPr>
          <p:cNvPr id="8" name="TextBox 7"/>
          <p:cNvSpPr txBox="1"/>
          <p:nvPr/>
        </p:nvSpPr>
        <p:spPr>
          <a:xfrm>
            <a:off x="6400800" y="1828800"/>
            <a:ext cx="4892040" cy="2743200"/>
          </a:xfrm>
          <a:prstGeom prst="rect">
            <a:avLst/>
          </a:prstGeom>
          <a:noFill/>
        </p:spPr>
        <p:txBody>
          <a:bodyPr wrap="square">
            <a:spAutoFit/>
          </a:bodyPr>
          <a:lstStyle/>
          <a:p>
            <a:pPr>
              <a:spcAft>
                <a:spcPts val="800"/>
              </a:spcAft>
              <a:defRPr sz="1800">
                <a:solidFill>
                  <a:srgbClr val="23282D"/>
                </a:solidFill>
                <a:latin typeface="Yu Gothic"/>
              </a:defRPr>
            </a:pPr>
            <a:r>
              <a:t>・角度計算に使う3点がPythonコード内に固定されている</a:t>
            </a:r>
          </a:p>
          <a:p>
            <a:pPr>
              <a:spcAft>
                <a:spcPts val="800"/>
              </a:spcAft>
              <a:defRPr sz="1800">
                <a:solidFill>
                  <a:srgbClr val="23282D"/>
                </a:solidFill>
                <a:latin typeface="Yu Gothic"/>
              </a:defRPr>
            </a:pPr>
            <a:r>
              <a:t>・設定だけで対象関節を変更できない</a:t>
            </a:r>
          </a:p>
          <a:p>
            <a:pPr>
              <a:spcAft>
                <a:spcPts val="800"/>
              </a:spcAft>
              <a:defRPr sz="1800">
                <a:solidFill>
                  <a:srgbClr val="23282D"/>
                </a:solidFill>
                <a:latin typeface="Yu Gothic"/>
              </a:defRPr>
            </a:pPr>
            <a:r>
              <a:t>・アームカールを同じ共通処理で扱えるかは未確認</a:t>
            </a:r>
          </a:p>
          <a:p>
            <a:pPr>
              <a:spcAft>
                <a:spcPts val="800"/>
              </a:spcAft>
              <a:defRPr sz="1800">
                <a:solidFill>
                  <a:srgbClr val="23282D"/>
                </a:solidFill>
                <a:latin typeface="Yu Gothic"/>
              </a:defRPr>
            </a:pPr>
            <a:r>
              <a:t>・複数条件・時間的変化への対応範囲は未検証</a:t>
            </a:r>
          </a:p>
        </p:txBody>
      </p:sp>
      <p:sp>
        <p:nvSpPr>
          <p:cNvPr id="10" name="TextBox 9"/>
          <p:cNvSpPr txBox="1"/>
          <p:nvPr/>
        </p:nvSpPr>
        <p:spPr>
          <a:xfrm>
            <a:off x="502920" y="6510528"/>
            <a:ext cx="3657600" cy="182880"/>
          </a:xfrm>
          <a:prstGeom prst="rect">
            <a:avLst/>
          </a:prstGeom>
          <a:noFill/>
        </p:spPr>
        <p:txBody>
          <a:bodyPr wrap="square" lIns="45720" tIns="27432" rIns="45720" bIns="27432" anchor="ctr">
            <a:spAutoFit/>
          </a:bodyPr>
          <a:lstStyle/>
          <a:p>
            <a:pPr algn="l"/>
            <a:r>
              <a:rPr sz="900" b="0">
                <a:solidFill>
                  <a:srgbClr val="5F6973"/>
                </a:solidFill>
                <a:latin typeface="Yu Gothic"/>
              </a:rPr>
              <a:t>卒業研究・中間発表</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0698480" cy="502920"/>
          </a:xfrm>
          <a:prstGeom prst="rect">
            <a:avLst/>
          </a:prstGeom>
          <a:noFill/>
        </p:spPr>
        <p:txBody>
          <a:bodyPr wrap="square" lIns="45720" tIns="27432" rIns="45720" bIns="27432" anchor="ctr">
            <a:spAutoFit/>
          </a:bodyPr>
          <a:lstStyle/>
          <a:p>
            <a:pPr algn="l"/>
            <a:r>
              <a:rPr sz="2700" b="1">
                <a:solidFill>
                  <a:srgbClr val="23282D"/>
                </a:solidFill>
                <a:latin typeface="Yu Gothic"/>
              </a:rPr>
              <a:t>7. 現在のプログラムと課題</a:t>
            </a:r>
          </a:p>
        </p:txBody>
      </p:sp>
      <p:sp>
        <p:nvSpPr>
          <p:cNvPr id="3" name="TextBox 2"/>
          <p:cNvSpPr txBox="1"/>
          <p:nvPr/>
        </p:nvSpPr>
        <p:spPr>
          <a:xfrm>
            <a:off x="11247120" y="256032"/>
            <a:ext cx="457200" cy="274320"/>
          </a:xfrm>
          <a:prstGeom prst="rect">
            <a:avLst/>
          </a:prstGeom>
          <a:noFill/>
        </p:spPr>
        <p:txBody>
          <a:bodyPr wrap="square" lIns="45720" tIns="27432" rIns="45720" bIns="27432" anchor="ctr">
            <a:spAutoFit/>
          </a:bodyPr>
          <a:lstStyle/>
          <a:p>
            <a:pPr algn="r"/>
            <a:r>
              <a:rPr sz="1200" b="0">
                <a:solidFill>
                  <a:srgbClr val="5F6973"/>
                </a:solidFill>
                <a:latin typeface="Yu Gothic"/>
              </a:rPr>
              <a:t>8</a:t>
            </a:r>
          </a:p>
        </p:txBody>
      </p:sp>
      <p:sp>
        <p:nvSpPr>
          <p:cNvPr id="4" name="Rectangle 3"/>
          <p:cNvSpPr/>
          <p:nvPr/>
        </p:nvSpPr>
        <p:spPr>
          <a:xfrm>
            <a:off x="502920" y="822960"/>
            <a:ext cx="11155680" cy="22860"/>
          </a:xfrm>
          <a:prstGeom prst="rect">
            <a:avLst/>
          </a:prstGeom>
          <a:solidFill>
            <a:srgbClr val="375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600200"/>
            <a:ext cx="1508760" cy="1005840"/>
          </a:xfrm>
          <a:prstGeom prst="roundRect">
            <a:avLst/>
          </a:prstGeom>
          <a:solidFill>
            <a:srgbClr val="F2F4F7"/>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0">
                <a:solidFill>
                  <a:srgbClr val="23282D"/>
                </a:solidFill>
                <a:latin typeface="Yu Gothic"/>
              </a:rPr>
              <a:t>Webカメラ</a:t>
            </a:r>
          </a:p>
        </p:txBody>
      </p:sp>
      <p:sp>
        <p:nvSpPr>
          <p:cNvPr id="6" name="Rounded Rectangle 5"/>
          <p:cNvSpPr/>
          <p:nvPr/>
        </p:nvSpPr>
        <p:spPr>
          <a:xfrm>
            <a:off x="2514600" y="1600200"/>
            <a:ext cx="1600200" cy="1005840"/>
          </a:xfrm>
          <a:prstGeom prst="roundRect">
            <a:avLst/>
          </a:prstGeom>
          <a:solidFill>
            <a:srgbClr val="F2F4F7"/>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0">
                <a:solidFill>
                  <a:srgbClr val="23282D"/>
                </a:solidFill>
                <a:latin typeface="Yu Gothic"/>
              </a:rPr>
              <a:t>MediaPipe
姿勢推定</a:t>
            </a:r>
          </a:p>
        </p:txBody>
      </p:sp>
      <p:sp>
        <p:nvSpPr>
          <p:cNvPr id="7" name="Rounded Rectangle 6"/>
          <p:cNvSpPr/>
          <p:nvPr/>
        </p:nvSpPr>
        <p:spPr>
          <a:xfrm>
            <a:off x="4526280" y="1600200"/>
            <a:ext cx="1828800" cy="1005840"/>
          </a:xfrm>
          <a:prstGeom prst="roundRect">
            <a:avLst/>
          </a:prstGeom>
          <a:solidFill>
            <a:srgbClr val="F2F4F7"/>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0">
                <a:solidFill>
                  <a:srgbClr val="23282D"/>
                </a:solidFill>
                <a:latin typeface="Yu Gothic"/>
              </a:rPr>
              <a:t>股関節・膝・足首
を取得</a:t>
            </a:r>
          </a:p>
        </p:txBody>
      </p:sp>
      <p:sp>
        <p:nvSpPr>
          <p:cNvPr id="8" name="Rounded Rectangle 7"/>
          <p:cNvSpPr/>
          <p:nvPr/>
        </p:nvSpPr>
        <p:spPr>
          <a:xfrm>
            <a:off x="6720840" y="1600200"/>
            <a:ext cx="1417320" cy="1005840"/>
          </a:xfrm>
          <a:prstGeom prst="roundRect">
            <a:avLst/>
          </a:prstGeom>
          <a:solidFill>
            <a:srgbClr val="F2F4F7"/>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0">
                <a:solidFill>
                  <a:srgbClr val="23282D"/>
                </a:solidFill>
                <a:latin typeface="Yu Gothic"/>
              </a:rPr>
              <a:t>膝角度を
計算</a:t>
            </a:r>
          </a:p>
        </p:txBody>
      </p:sp>
      <p:sp>
        <p:nvSpPr>
          <p:cNvPr id="9" name="Rounded Rectangle 8"/>
          <p:cNvSpPr/>
          <p:nvPr/>
        </p:nvSpPr>
        <p:spPr>
          <a:xfrm>
            <a:off x="8732520" y="1600200"/>
            <a:ext cx="1645920" cy="1005840"/>
          </a:xfrm>
          <a:prstGeom prst="roundRect">
            <a:avLst/>
          </a:prstGeom>
          <a:solidFill>
            <a:srgbClr val="F2F4F7"/>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23282D"/>
                </a:solidFill>
                <a:latin typeface="Yu Gothic"/>
              </a:rPr>
              <a:t>JSONの条件と
比較・判定</a:t>
            </a:r>
          </a:p>
        </p:txBody>
      </p:sp>
      <p:sp>
        <p:nvSpPr>
          <p:cNvPr id="10" name="Rounded Rectangle 9"/>
          <p:cNvSpPr/>
          <p:nvPr/>
        </p:nvSpPr>
        <p:spPr>
          <a:xfrm>
            <a:off x="10698480" y="1600200"/>
            <a:ext cx="1005840" cy="1005840"/>
          </a:xfrm>
          <a:prstGeom prst="roundRect">
            <a:avLst/>
          </a:prstGeom>
          <a:solidFill>
            <a:srgbClr val="F2F4F7"/>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b="0">
                <a:solidFill>
                  <a:srgbClr val="23282D"/>
                </a:solidFill>
                <a:latin typeface="Yu Gothic"/>
              </a:rPr>
              <a:t>判定結果を
表示</a:t>
            </a:r>
          </a:p>
        </p:txBody>
      </p:sp>
      <p:cxnSp>
        <p:nvCxnSpPr>
          <p:cNvPr id="11" name="Connector 10"/>
          <p:cNvCxnSpPr/>
          <p:nvPr/>
        </p:nvCxnSpPr>
        <p:spPr>
          <a:xfrm>
            <a:off x="2176271" y="2103120"/>
            <a:ext cx="310897" cy="0"/>
          </a:xfrm>
          <a:prstGeom prst="line">
            <a:avLst/>
          </a:prstGeom>
          <a:ln w="31750">
            <a:solidFill>
              <a:srgbClr val="375F8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142232" y="2103120"/>
            <a:ext cx="356616" cy="0"/>
          </a:xfrm>
          <a:prstGeom prst="line">
            <a:avLst/>
          </a:prstGeom>
          <a:ln w="31750">
            <a:solidFill>
              <a:srgbClr val="375F8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382512" y="2103120"/>
            <a:ext cx="310895" cy="0"/>
          </a:xfrm>
          <a:prstGeom prst="line">
            <a:avLst/>
          </a:prstGeom>
          <a:ln w="31750">
            <a:solidFill>
              <a:srgbClr val="375F8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165592" y="2103120"/>
            <a:ext cx="539496" cy="0"/>
          </a:xfrm>
          <a:prstGeom prst="line">
            <a:avLst/>
          </a:prstGeom>
          <a:ln w="31750">
            <a:solidFill>
              <a:srgbClr val="375F8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405872" y="2103120"/>
            <a:ext cx="265176" cy="0"/>
          </a:xfrm>
          <a:prstGeom prst="line">
            <a:avLst/>
          </a:prstGeom>
          <a:ln w="31750">
            <a:solidFill>
              <a:srgbClr val="375F8C"/>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85800" y="3246120"/>
            <a:ext cx="2057400" cy="594360"/>
          </a:xfrm>
          <a:prstGeom prst="roundRect">
            <a:avLst/>
          </a:prstGeom>
          <a:solidFill>
            <a:srgbClr val="FAEBEB"/>
          </a:solidFill>
          <a:ln>
            <a:solidFill>
              <a:srgbClr val="DCB9B9"/>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100" b="1">
                <a:solidFill>
                  <a:srgbClr val="AA4646"/>
                </a:solidFill>
                <a:latin typeface="Yu Gothic"/>
              </a:rPr>
              <a:t>現在の課題</a:t>
            </a:r>
          </a:p>
        </p:txBody>
      </p:sp>
      <p:sp>
        <p:nvSpPr>
          <p:cNvPr id="17" name="TextBox 16"/>
          <p:cNvSpPr txBox="1"/>
          <p:nvPr/>
        </p:nvSpPr>
        <p:spPr>
          <a:xfrm>
            <a:off x="2971800" y="3273552"/>
            <a:ext cx="8412480" cy="502920"/>
          </a:xfrm>
          <a:prstGeom prst="rect">
            <a:avLst/>
          </a:prstGeom>
          <a:noFill/>
        </p:spPr>
        <p:txBody>
          <a:bodyPr wrap="square" lIns="45720" tIns="27432" rIns="45720" bIns="27432" anchor="ctr">
            <a:spAutoFit/>
          </a:bodyPr>
          <a:lstStyle/>
          <a:p>
            <a:pPr algn="l"/>
            <a:r>
              <a:rPr sz="2000" b="1">
                <a:solidFill>
                  <a:srgbClr val="23282D"/>
                </a:solidFill>
                <a:latin typeface="Yu Gothic"/>
              </a:rPr>
              <a:t>JSONは読み込めているが、「どの3点を使うか」はPython側で固定されている。</a:t>
            </a:r>
          </a:p>
        </p:txBody>
      </p:sp>
      <p:sp>
        <p:nvSpPr>
          <p:cNvPr id="18" name="Rounded Rectangle 17"/>
          <p:cNvSpPr/>
          <p:nvPr/>
        </p:nvSpPr>
        <p:spPr>
          <a:xfrm>
            <a:off x="685800" y="4297680"/>
            <a:ext cx="2057400" cy="594360"/>
          </a:xfrm>
          <a:prstGeom prst="roundRect">
            <a:avLst/>
          </a:prstGeom>
          <a:solidFill>
            <a:srgbClr val="E8F2E8"/>
          </a:solidFill>
          <a:ln>
            <a:solidFill>
              <a:srgbClr val="B4CDB9"/>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100" b="1">
                <a:solidFill>
                  <a:srgbClr val="417850"/>
                </a:solidFill>
                <a:latin typeface="Yu Gothic"/>
              </a:rPr>
              <a:t>目標</a:t>
            </a:r>
          </a:p>
        </p:txBody>
      </p:sp>
      <p:sp>
        <p:nvSpPr>
          <p:cNvPr id="19" name="TextBox 18"/>
          <p:cNvSpPr txBox="1"/>
          <p:nvPr/>
        </p:nvSpPr>
        <p:spPr>
          <a:xfrm>
            <a:off x="2971800" y="4224528"/>
            <a:ext cx="8412480" cy="868680"/>
          </a:xfrm>
          <a:prstGeom prst="rect">
            <a:avLst/>
          </a:prstGeom>
          <a:noFill/>
        </p:spPr>
        <p:txBody>
          <a:bodyPr wrap="square" lIns="45720" tIns="27432" rIns="45720" bIns="27432" anchor="ctr">
            <a:spAutoFit/>
          </a:bodyPr>
          <a:lstStyle/>
          <a:p>
            <a:pPr algn="l"/>
            <a:r>
              <a:rPr sz="1900" b="1">
                <a:solidFill>
                  <a:srgbClr val="23282D"/>
                </a:solidFill>
                <a:latin typeface="Yu Gothic"/>
              </a:rPr>
              <a:t>3点の指定も設定ファイルから取得し、スクワットとアームカールで同じ角度計算・判定処理を利用できるか確認する。</a:t>
            </a:r>
          </a:p>
        </p:txBody>
      </p:sp>
      <p:sp>
        <p:nvSpPr>
          <p:cNvPr id="20" name="TextBox 19"/>
          <p:cNvSpPr txBox="1"/>
          <p:nvPr/>
        </p:nvSpPr>
        <p:spPr>
          <a:xfrm>
            <a:off x="502920" y="6510528"/>
            <a:ext cx="3657600" cy="182880"/>
          </a:xfrm>
          <a:prstGeom prst="rect">
            <a:avLst/>
          </a:prstGeom>
          <a:noFill/>
        </p:spPr>
        <p:txBody>
          <a:bodyPr wrap="square" lIns="45720" tIns="27432" rIns="45720" bIns="27432" anchor="ctr">
            <a:spAutoFit/>
          </a:bodyPr>
          <a:lstStyle/>
          <a:p>
            <a:pPr algn="l"/>
            <a:r>
              <a:rPr sz="900" b="0">
                <a:solidFill>
                  <a:srgbClr val="5F6973"/>
                </a:solidFill>
                <a:latin typeface="Yu Gothic"/>
              </a:rPr>
              <a:t>卒業研究・中間発表</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0698480" cy="502920"/>
          </a:xfrm>
          <a:prstGeom prst="rect">
            <a:avLst/>
          </a:prstGeom>
          <a:noFill/>
        </p:spPr>
        <p:txBody>
          <a:bodyPr wrap="square" lIns="45720" tIns="27432" rIns="45720" bIns="27432" anchor="ctr">
            <a:spAutoFit/>
          </a:bodyPr>
          <a:lstStyle/>
          <a:p>
            <a:pPr algn="l"/>
            <a:r>
              <a:rPr sz="2700" b="1">
                <a:solidFill>
                  <a:srgbClr val="23282D"/>
                </a:solidFill>
                <a:latin typeface="Yu Gothic"/>
              </a:rPr>
              <a:t>8. 検証方法</a:t>
            </a:r>
          </a:p>
        </p:txBody>
      </p:sp>
      <p:sp>
        <p:nvSpPr>
          <p:cNvPr id="3" name="TextBox 2"/>
          <p:cNvSpPr txBox="1"/>
          <p:nvPr/>
        </p:nvSpPr>
        <p:spPr>
          <a:xfrm>
            <a:off x="11247120" y="256032"/>
            <a:ext cx="457200" cy="274320"/>
          </a:xfrm>
          <a:prstGeom prst="rect">
            <a:avLst/>
          </a:prstGeom>
          <a:noFill/>
        </p:spPr>
        <p:txBody>
          <a:bodyPr wrap="square" lIns="45720" tIns="27432" rIns="45720" bIns="27432" anchor="ctr">
            <a:spAutoFit/>
          </a:bodyPr>
          <a:lstStyle/>
          <a:p>
            <a:pPr algn="r"/>
            <a:r>
              <a:rPr sz="1200" b="0">
                <a:solidFill>
                  <a:srgbClr val="5F6973"/>
                </a:solidFill>
                <a:latin typeface="Yu Gothic"/>
              </a:rPr>
              <a:t>9</a:t>
            </a:r>
          </a:p>
        </p:txBody>
      </p:sp>
      <p:sp>
        <p:nvSpPr>
          <p:cNvPr id="4" name="Rectangle 3"/>
          <p:cNvSpPr/>
          <p:nvPr/>
        </p:nvSpPr>
        <p:spPr>
          <a:xfrm>
            <a:off x="502920" y="822960"/>
            <a:ext cx="11155680" cy="22860"/>
          </a:xfrm>
          <a:prstGeom prst="rect">
            <a:avLst/>
          </a:prstGeom>
          <a:solidFill>
            <a:srgbClr val="375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090877"/>
            <a:ext cx="10789920" cy="378565"/>
          </a:xfrm>
          <a:prstGeom prst="rect">
            <a:avLst/>
          </a:prstGeom>
          <a:noFill/>
        </p:spPr>
        <p:txBody>
          <a:bodyPr wrap="square" lIns="45720" tIns="27432" rIns="45720" bIns="27432" anchor="ctr">
            <a:spAutoFit/>
          </a:bodyPr>
          <a:lstStyle/>
          <a:p>
            <a:pPr algn="l"/>
            <a:r>
              <a:rPr sz="2100" b="1" dirty="0" err="1">
                <a:solidFill>
                  <a:srgbClr val="375F8C"/>
                </a:solidFill>
                <a:latin typeface="Yu Gothic"/>
              </a:rPr>
              <a:t>どこまで設定変更だけで対応できるかを確認する</a:t>
            </a:r>
            <a:endParaRPr sz="2100" b="1" dirty="0">
              <a:solidFill>
                <a:srgbClr val="375F8C"/>
              </a:solidFill>
              <a:latin typeface="Yu Gothic"/>
            </a:endParaRPr>
          </a:p>
        </p:txBody>
      </p:sp>
      <p:sp>
        <p:nvSpPr>
          <p:cNvPr id="6" name="Rounded Rectangle 5"/>
          <p:cNvSpPr/>
          <p:nvPr/>
        </p:nvSpPr>
        <p:spPr>
          <a:xfrm>
            <a:off x="594360" y="1737360"/>
            <a:ext cx="2057400" cy="914400"/>
          </a:xfrm>
          <a:prstGeom prst="roundRect">
            <a:avLst/>
          </a:prstGeom>
          <a:solidFill>
            <a:srgbClr val="E1EBF5"/>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23282D"/>
                </a:solidFill>
                <a:latin typeface="Yu Gothic"/>
              </a:rPr>
              <a:t>① 関節指定</a:t>
            </a:r>
          </a:p>
        </p:txBody>
      </p:sp>
      <p:sp>
        <p:nvSpPr>
          <p:cNvPr id="7" name="Rounded Rectangle 6"/>
          <p:cNvSpPr/>
          <p:nvPr/>
        </p:nvSpPr>
        <p:spPr>
          <a:xfrm>
            <a:off x="2788920" y="1737360"/>
            <a:ext cx="3063240" cy="914400"/>
          </a:xfrm>
          <a:prstGeom prst="roundRect">
            <a:avLst/>
          </a:prstGeom>
          <a:solidFill>
            <a:srgbClr val="F2F4F7"/>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b="0">
                <a:solidFill>
                  <a:srgbClr val="23282D"/>
                </a:solidFill>
                <a:latin typeface="Yu Gothic"/>
              </a:rPr>
              <a:t>3点だけが異なる場合</a:t>
            </a:r>
          </a:p>
        </p:txBody>
      </p:sp>
      <p:sp>
        <p:nvSpPr>
          <p:cNvPr id="8" name="Rounded Rectangle 7"/>
          <p:cNvSpPr/>
          <p:nvPr/>
        </p:nvSpPr>
        <p:spPr>
          <a:xfrm>
            <a:off x="5989320" y="1737360"/>
            <a:ext cx="5577840" cy="914400"/>
          </a:xfrm>
          <a:prstGeom prst="roundRect">
            <a:avLst/>
          </a:prstGeom>
          <a:solidFill>
            <a:srgbClr val="F2F4F7"/>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0">
                <a:solidFill>
                  <a:srgbClr val="23282D"/>
                </a:solidFill>
                <a:latin typeface="Yu Gothic"/>
              </a:rPr>
              <a:t>設定変更だけで対応できるか確認</a:t>
            </a:r>
          </a:p>
        </p:txBody>
      </p:sp>
      <p:sp>
        <p:nvSpPr>
          <p:cNvPr id="9" name="Rounded Rectangle 8"/>
          <p:cNvSpPr/>
          <p:nvPr/>
        </p:nvSpPr>
        <p:spPr>
          <a:xfrm>
            <a:off x="594360" y="2761488"/>
            <a:ext cx="2057400" cy="1170432"/>
          </a:xfrm>
          <a:prstGeom prst="roundRect">
            <a:avLst/>
          </a:prstGeom>
          <a:solidFill>
            <a:srgbClr val="E1EBF5"/>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23282D"/>
                </a:solidFill>
                <a:latin typeface="Yu Gothic"/>
              </a:rPr>
              <a:t>② 複数角度・複数条件</a:t>
            </a:r>
          </a:p>
        </p:txBody>
      </p:sp>
      <p:sp>
        <p:nvSpPr>
          <p:cNvPr id="10" name="Rounded Rectangle 9"/>
          <p:cNvSpPr/>
          <p:nvPr/>
        </p:nvSpPr>
        <p:spPr>
          <a:xfrm>
            <a:off x="2788920" y="2761488"/>
            <a:ext cx="3063240" cy="1170432"/>
          </a:xfrm>
          <a:prstGeom prst="roundRect">
            <a:avLst/>
          </a:prstGeom>
          <a:solidFill>
            <a:srgbClr val="F2F4F7"/>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b="0">
                <a:solidFill>
                  <a:srgbClr val="23282D"/>
                </a:solidFill>
                <a:latin typeface="Yu Gothic"/>
              </a:rPr>
              <a:t>複数の評価条件を扱う場合</a:t>
            </a:r>
          </a:p>
        </p:txBody>
      </p:sp>
      <p:sp>
        <p:nvSpPr>
          <p:cNvPr id="11" name="Rounded Rectangle 10"/>
          <p:cNvSpPr/>
          <p:nvPr/>
        </p:nvSpPr>
        <p:spPr>
          <a:xfrm>
            <a:off x="5989320" y="2761488"/>
            <a:ext cx="5577840" cy="1170432"/>
          </a:xfrm>
          <a:prstGeom prst="roundRect">
            <a:avLst/>
          </a:prstGeom>
          <a:solidFill>
            <a:srgbClr val="F2F4F7"/>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0">
                <a:solidFill>
                  <a:srgbClr val="23282D"/>
                </a:solidFill>
                <a:latin typeface="Yu Gothic"/>
              </a:rPr>
              <a:t>設定変更だけで対応できるか／共通処理の追加が必要か／種目固有処理が必要か確認</a:t>
            </a:r>
          </a:p>
        </p:txBody>
      </p:sp>
      <p:sp>
        <p:nvSpPr>
          <p:cNvPr id="12" name="Rounded Rectangle 11"/>
          <p:cNvSpPr/>
          <p:nvPr/>
        </p:nvSpPr>
        <p:spPr>
          <a:xfrm>
            <a:off x="594360" y="4041648"/>
            <a:ext cx="2057400" cy="1170432"/>
          </a:xfrm>
          <a:prstGeom prst="roundRect">
            <a:avLst/>
          </a:prstGeom>
          <a:solidFill>
            <a:srgbClr val="E1EBF5"/>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23282D"/>
                </a:solidFill>
                <a:latin typeface="Yu Gothic"/>
              </a:rPr>
              <a:t>③ 時間的変化・動作順序</a:t>
            </a:r>
          </a:p>
        </p:txBody>
      </p:sp>
      <p:sp>
        <p:nvSpPr>
          <p:cNvPr id="13" name="Rounded Rectangle 12"/>
          <p:cNvSpPr/>
          <p:nvPr/>
        </p:nvSpPr>
        <p:spPr>
          <a:xfrm>
            <a:off x="2788920" y="4041648"/>
            <a:ext cx="3063240" cy="1170432"/>
          </a:xfrm>
          <a:prstGeom prst="roundRect">
            <a:avLst/>
          </a:prstGeom>
          <a:solidFill>
            <a:srgbClr val="F2F4F7"/>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b="0">
                <a:solidFill>
                  <a:srgbClr val="23282D"/>
                </a:solidFill>
                <a:latin typeface="Yu Gothic"/>
              </a:rPr>
              <a:t>角度の変化や動作の順序を扱う場合</a:t>
            </a:r>
          </a:p>
        </p:txBody>
      </p:sp>
      <p:sp>
        <p:nvSpPr>
          <p:cNvPr id="14" name="Rounded Rectangle 13"/>
          <p:cNvSpPr/>
          <p:nvPr/>
        </p:nvSpPr>
        <p:spPr>
          <a:xfrm>
            <a:off x="5989320" y="4041648"/>
            <a:ext cx="5577840" cy="1170432"/>
          </a:xfrm>
          <a:prstGeom prst="roundRect">
            <a:avLst/>
          </a:prstGeom>
          <a:solidFill>
            <a:srgbClr val="F2F4F7"/>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0">
                <a:solidFill>
                  <a:srgbClr val="23282D"/>
                </a:solidFill>
                <a:latin typeface="Yu Gothic"/>
              </a:rPr>
              <a:t>設定変更だけで対応できるか／共通処理の追加が必要か／種目固有処理が必要か確認</a:t>
            </a:r>
          </a:p>
        </p:txBody>
      </p:sp>
      <p:sp>
        <p:nvSpPr>
          <p:cNvPr id="15" name="Rounded Rectangle 14"/>
          <p:cNvSpPr/>
          <p:nvPr/>
        </p:nvSpPr>
        <p:spPr>
          <a:xfrm>
            <a:off x="594360" y="5321808"/>
            <a:ext cx="2057400" cy="914400"/>
          </a:xfrm>
          <a:prstGeom prst="roundRect">
            <a:avLst/>
          </a:prstGeom>
          <a:solidFill>
            <a:srgbClr val="E1EBF5"/>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23282D"/>
                </a:solidFill>
                <a:latin typeface="Yu Gothic"/>
              </a:rPr>
              <a:t>④ 追加時の修正</a:t>
            </a:r>
          </a:p>
        </p:txBody>
      </p:sp>
      <p:sp>
        <p:nvSpPr>
          <p:cNvPr id="16" name="Rounded Rectangle 15"/>
          <p:cNvSpPr/>
          <p:nvPr/>
        </p:nvSpPr>
        <p:spPr>
          <a:xfrm>
            <a:off x="2788920" y="5321808"/>
            <a:ext cx="3063240" cy="914400"/>
          </a:xfrm>
          <a:prstGeom prst="roundRect">
            <a:avLst/>
          </a:prstGeom>
          <a:solidFill>
            <a:srgbClr val="F2F4F7"/>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b="0">
                <a:solidFill>
                  <a:srgbClr val="23282D"/>
                </a:solidFill>
                <a:latin typeface="Yu Gothic"/>
              </a:rPr>
              <a:t>種目を追加する場合</a:t>
            </a:r>
          </a:p>
        </p:txBody>
      </p:sp>
      <p:sp>
        <p:nvSpPr>
          <p:cNvPr id="17" name="Rounded Rectangle 16"/>
          <p:cNvSpPr/>
          <p:nvPr/>
        </p:nvSpPr>
        <p:spPr>
          <a:xfrm>
            <a:off x="5989320" y="5321808"/>
            <a:ext cx="5577840" cy="914400"/>
          </a:xfrm>
          <a:prstGeom prst="roundRect">
            <a:avLst/>
          </a:prstGeom>
          <a:solidFill>
            <a:srgbClr val="F2F4F7"/>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0">
                <a:solidFill>
                  <a:srgbClr val="23282D"/>
                </a:solidFill>
                <a:latin typeface="Yu Gothic"/>
              </a:rPr>
              <a:t>変更箇所・コード量を記録し、既存プログラムの修正をどの程度減らせるか確認</a:t>
            </a:r>
          </a:p>
        </p:txBody>
      </p:sp>
      <p:sp>
        <p:nvSpPr>
          <p:cNvPr id="18" name="TextBox 17"/>
          <p:cNvSpPr txBox="1"/>
          <p:nvPr/>
        </p:nvSpPr>
        <p:spPr>
          <a:xfrm>
            <a:off x="960120" y="6345936"/>
            <a:ext cx="10607040" cy="411480"/>
          </a:xfrm>
          <a:prstGeom prst="rect">
            <a:avLst/>
          </a:prstGeom>
          <a:noFill/>
        </p:spPr>
        <p:txBody>
          <a:bodyPr wrap="square" lIns="45720" tIns="27432" rIns="45720" bIns="27432" anchor="ctr">
            <a:spAutoFit/>
          </a:bodyPr>
          <a:lstStyle/>
          <a:p>
            <a:pPr algn="ctr"/>
            <a:r>
              <a:rPr sz="1700" b="1" dirty="0" err="1">
                <a:solidFill>
                  <a:srgbClr val="23282D"/>
                </a:solidFill>
                <a:latin typeface="Yu Gothic"/>
              </a:rPr>
              <a:t>確認する分類：設定変更だけで対応</a:t>
            </a:r>
            <a:r>
              <a:rPr sz="1700" b="1" dirty="0">
                <a:solidFill>
                  <a:srgbClr val="23282D"/>
                </a:solidFill>
                <a:latin typeface="Yu Gothic"/>
              </a:rPr>
              <a:t> ／ </a:t>
            </a:r>
            <a:r>
              <a:rPr sz="1700" b="1" dirty="0" err="1">
                <a:solidFill>
                  <a:srgbClr val="23282D"/>
                </a:solidFill>
                <a:latin typeface="Yu Gothic"/>
              </a:rPr>
              <a:t>共通処理の追加・変更が必要</a:t>
            </a:r>
            <a:r>
              <a:rPr sz="1700" b="1" dirty="0">
                <a:solidFill>
                  <a:srgbClr val="23282D"/>
                </a:solidFill>
                <a:latin typeface="Yu Gothic"/>
              </a:rPr>
              <a:t> ／ </a:t>
            </a:r>
            <a:r>
              <a:rPr sz="1700" b="1" dirty="0" err="1">
                <a:solidFill>
                  <a:srgbClr val="23282D"/>
                </a:solidFill>
                <a:latin typeface="Yu Gothic"/>
              </a:rPr>
              <a:t>種目固有処理が必要</a:t>
            </a:r>
            <a:endParaRPr sz="1700" b="1" dirty="0">
              <a:solidFill>
                <a:srgbClr val="23282D"/>
              </a:solidFill>
              <a:latin typeface="Yu Gothic"/>
            </a:endParaRPr>
          </a:p>
        </p:txBody>
      </p:sp>
      <p:sp>
        <p:nvSpPr>
          <p:cNvPr id="19" name="TextBox 18"/>
          <p:cNvSpPr txBox="1"/>
          <p:nvPr/>
        </p:nvSpPr>
        <p:spPr>
          <a:xfrm>
            <a:off x="502920" y="6510528"/>
            <a:ext cx="3657600" cy="182880"/>
          </a:xfrm>
          <a:prstGeom prst="rect">
            <a:avLst/>
          </a:prstGeom>
          <a:noFill/>
        </p:spPr>
        <p:txBody>
          <a:bodyPr wrap="square" lIns="45720" tIns="27432" rIns="45720" bIns="27432" anchor="ctr">
            <a:spAutoFit/>
          </a:bodyPr>
          <a:lstStyle/>
          <a:p>
            <a:pPr algn="l"/>
            <a:r>
              <a:rPr sz="900" b="0" dirty="0" err="1">
                <a:solidFill>
                  <a:srgbClr val="5F6973"/>
                </a:solidFill>
                <a:latin typeface="Yu Gothic"/>
              </a:rPr>
              <a:t>卒業研究・中間発表</a:t>
            </a:r>
            <a:endParaRPr sz="900" b="0" dirty="0">
              <a:solidFill>
                <a:srgbClr val="5F6973"/>
              </a:solidFill>
              <a:latin typeface="Yu Gothic"/>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0698480" cy="502920"/>
          </a:xfrm>
          <a:prstGeom prst="rect">
            <a:avLst/>
          </a:prstGeom>
          <a:noFill/>
        </p:spPr>
        <p:txBody>
          <a:bodyPr wrap="square" lIns="45720" tIns="27432" rIns="45720" bIns="27432" anchor="ctr">
            <a:spAutoFit/>
          </a:bodyPr>
          <a:lstStyle/>
          <a:p>
            <a:pPr algn="l"/>
            <a:r>
              <a:rPr sz="2700" b="1">
                <a:solidFill>
                  <a:srgbClr val="23282D"/>
                </a:solidFill>
                <a:latin typeface="Yu Gothic"/>
              </a:rPr>
              <a:t>9. 今後の予定</a:t>
            </a:r>
          </a:p>
        </p:txBody>
      </p:sp>
      <p:sp>
        <p:nvSpPr>
          <p:cNvPr id="3" name="TextBox 2"/>
          <p:cNvSpPr txBox="1"/>
          <p:nvPr/>
        </p:nvSpPr>
        <p:spPr>
          <a:xfrm>
            <a:off x="11247120" y="256032"/>
            <a:ext cx="457200" cy="274320"/>
          </a:xfrm>
          <a:prstGeom prst="rect">
            <a:avLst/>
          </a:prstGeom>
          <a:noFill/>
        </p:spPr>
        <p:txBody>
          <a:bodyPr wrap="square" lIns="45720" tIns="27432" rIns="45720" bIns="27432" anchor="ctr">
            <a:spAutoFit/>
          </a:bodyPr>
          <a:lstStyle/>
          <a:p>
            <a:pPr algn="r"/>
            <a:r>
              <a:rPr sz="1200" b="0">
                <a:solidFill>
                  <a:srgbClr val="5F6973"/>
                </a:solidFill>
                <a:latin typeface="Yu Gothic"/>
              </a:rPr>
              <a:t>10</a:t>
            </a:r>
          </a:p>
        </p:txBody>
      </p:sp>
      <p:sp>
        <p:nvSpPr>
          <p:cNvPr id="4" name="Rectangle 3"/>
          <p:cNvSpPr/>
          <p:nvPr/>
        </p:nvSpPr>
        <p:spPr>
          <a:xfrm>
            <a:off x="502920" y="822960"/>
            <a:ext cx="11155680" cy="22860"/>
          </a:xfrm>
          <a:prstGeom prst="rect">
            <a:avLst/>
          </a:prstGeom>
          <a:solidFill>
            <a:srgbClr val="375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34440"/>
            <a:ext cx="731520" cy="640080"/>
          </a:xfrm>
          <a:prstGeom prst="roundRect">
            <a:avLst/>
          </a:prstGeom>
          <a:solidFill>
            <a:srgbClr val="E1EBF5"/>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23282D"/>
                </a:solidFill>
                <a:latin typeface="Yu Gothic"/>
              </a:rPr>
              <a:t>01</a:t>
            </a:r>
          </a:p>
        </p:txBody>
      </p:sp>
      <p:sp>
        <p:nvSpPr>
          <p:cNvPr id="6" name="TextBox 5"/>
          <p:cNvSpPr txBox="1"/>
          <p:nvPr/>
        </p:nvSpPr>
        <p:spPr>
          <a:xfrm>
            <a:off x="1737360" y="1216152"/>
            <a:ext cx="2834640" cy="365760"/>
          </a:xfrm>
          <a:prstGeom prst="rect">
            <a:avLst/>
          </a:prstGeom>
          <a:noFill/>
        </p:spPr>
        <p:txBody>
          <a:bodyPr wrap="square" lIns="45720" tIns="27432" rIns="45720" bIns="27432" anchor="ctr">
            <a:spAutoFit/>
          </a:bodyPr>
          <a:lstStyle/>
          <a:p>
            <a:pPr algn="l"/>
            <a:r>
              <a:rPr sz="2000" b="1">
                <a:solidFill>
                  <a:srgbClr val="23282D"/>
                </a:solidFill>
                <a:latin typeface="Yu Gothic"/>
              </a:rPr>
              <a:t>3点の設定化</a:t>
            </a:r>
          </a:p>
        </p:txBody>
      </p:sp>
      <p:sp>
        <p:nvSpPr>
          <p:cNvPr id="7" name="TextBox 6"/>
          <p:cNvSpPr txBox="1"/>
          <p:nvPr/>
        </p:nvSpPr>
        <p:spPr>
          <a:xfrm>
            <a:off x="4572000" y="1216152"/>
            <a:ext cx="6858000" cy="594360"/>
          </a:xfrm>
          <a:prstGeom prst="rect">
            <a:avLst/>
          </a:prstGeom>
          <a:noFill/>
        </p:spPr>
        <p:txBody>
          <a:bodyPr wrap="square" lIns="45720" tIns="27432" rIns="45720" bIns="27432" anchor="ctr">
            <a:spAutoFit/>
          </a:bodyPr>
          <a:lstStyle/>
          <a:p>
            <a:pPr algn="l"/>
            <a:r>
              <a:rPr sz="1700" b="0">
                <a:solidFill>
                  <a:srgbClr val="5F6973"/>
                </a:solidFill>
                <a:latin typeface="Yu Gothic"/>
              </a:rPr>
              <a:t>角度計算に使う関節を設定から取得</a:t>
            </a:r>
          </a:p>
        </p:txBody>
      </p:sp>
      <p:sp>
        <p:nvSpPr>
          <p:cNvPr id="8" name="Rounded Rectangle 7"/>
          <p:cNvSpPr/>
          <p:nvPr/>
        </p:nvSpPr>
        <p:spPr>
          <a:xfrm>
            <a:off x="731520" y="2194560"/>
            <a:ext cx="731520" cy="640080"/>
          </a:xfrm>
          <a:prstGeom prst="roundRect">
            <a:avLst/>
          </a:prstGeom>
          <a:solidFill>
            <a:srgbClr val="E1EBF5"/>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23282D"/>
                </a:solidFill>
                <a:latin typeface="Yu Gothic"/>
              </a:rPr>
              <a:t>02</a:t>
            </a:r>
          </a:p>
        </p:txBody>
      </p:sp>
      <p:sp>
        <p:nvSpPr>
          <p:cNvPr id="9" name="TextBox 8"/>
          <p:cNvSpPr txBox="1"/>
          <p:nvPr/>
        </p:nvSpPr>
        <p:spPr>
          <a:xfrm>
            <a:off x="1737360" y="2176272"/>
            <a:ext cx="2834640" cy="365760"/>
          </a:xfrm>
          <a:prstGeom prst="rect">
            <a:avLst/>
          </a:prstGeom>
          <a:noFill/>
        </p:spPr>
        <p:txBody>
          <a:bodyPr wrap="square" lIns="45720" tIns="27432" rIns="45720" bIns="27432" anchor="ctr">
            <a:spAutoFit/>
          </a:bodyPr>
          <a:lstStyle/>
          <a:p>
            <a:pPr algn="l"/>
            <a:r>
              <a:rPr sz="2000" b="1">
                <a:solidFill>
                  <a:srgbClr val="23282D"/>
                </a:solidFill>
                <a:latin typeface="Yu Gothic"/>
              </a:rPr>
              <a:t>2種目で確認</a:t>
            </a:r>
          </a:p>
        </p:txBody>
      </p:sp>
      <p:sp>
        <p:nvSpPr>
          <p:cNvPr id="10" name="TextBox 9"/>
          <p:cNvSpPr txBox="1"/>
          <p:nvPr/>
        </p:nvSpPr>
        <p:spPr>
          <a:xfrm>
            <a:off x="4572000" y="2176272"/>
            <a:ext cx="6858000" cy="594360"/>
          </a:xfrm>
          <a:prstGeom prst="rect">
            <a:avLst/>
          </a:prstGeom>
          <a:noFill/>
        </p:spPr>
        <p:txBody>
          <a:bodyPr wrap="square" lIns="45720" tIns="27432" rIns="45720" bIns="27432" anchor="ctr">
            <a:spAutoFit/>
          </a:bodyPr>
          <a:lstStyle/>
          <a:p>
            <a:pPr algn="l"/>
            <a:r>
              <a:rPr sz="1700" b="0">
                <a:solidFill>
                  <a:srgbClr val="5F6973"/>
                </a:solidFill>
                <a:latin typeface="Yu Gothic"/>
              </a:rPr>
              <a:t>スクワット＋アームカール</a:t>
            </a:r>
          </a:p>
        </p:txBody>
      </p:sp>
      <p:sp>
        <p:nvSpPr>
          <p:cNvPr id="11" name="Rounded Rectangle 10"/>
          <p:cNvSpPr/>
          <p:nvPr/>
        </p:nvSpPr>
        <p:spPr>
          <a:xfrm>
            <a:off x="731520" y="3154680"/>
            <a:ext cx="731520" cy="640080"/>
          </a:xfrm>
          <a:prstGeom prst="roundRect">
            <a:avLst/>
          </a:prstGeom>
          <a:solidFill>
            <a:srgbClr val="E1EBF5"/>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23282D"/>
                </a:solidFill>
                <a:latin typeface="Yu Gothic"/>
              </a:rPr>
              <a:t>03</a:t>
            </a:r>
          </a:p>
        </p:txBody>
      </p:sp>
      <p:sp>
        <p:nvSpPr>
          <p:cNvPr id="12" name="TextBox 11"/>
          <p:cNvSpPr txBox="1"/>
          <p:nvPr/>
        </p:nvSpPr>
        <p:spPr>
          <a:xfrm>
            <a:off x="1737360" y="3136392"/>
            <a:ext cx="2834640" cy="365760"/>
          </a:xfrm>
          <a:prstGeom prst="rect">
            <a:avLst/>
          </a:prstGeom>
          <a:noFill/>
        </p:spPr>
        <p:txBody>
          <a:bodyPr wrap="square" lIns="45720" tIns="27432" rIns="45720" bIns="27432" anchor="ctr">
            <a:spAutoFit/>
          </a:bodyPr>
          <a:lstStyle/>
          <a:p>
            <a:pPr algn="l"/>
            <a:r>
              <a:rPr sz="2000" b="1">
                <a:solidFill>
                  <a:srgbClr val="23282D"/>
                </a:solidFill>
                <a:latin typeface="Yu Gothic"/>
              </a:rPr>
              <a:t>複数条件を検証</a:t>
            </a:r>
          </a:p>
        </p:txBody>
      </p:sp>
      <p:sp>
        <p:nvSpPr>
          <p:cNvPr id="13" name="TextBox 12"/>
          <p:cNvSpPr txBox="1"/>
          <p:nvPr/>
        </p:nvSpPr>
        <p:spPr>
          <a:xfrm>
            <a:off x="4572000" y="3136392"/>
            <a:ext cx="6858000" cy="594360"/>
          </a:xfrm>
          <a:prstGeom prst="rect">
            <a:avLst/>
          </a:prstGeom>
          <a:noFill/>
        </p:spPr>
        <p:txBody>
          <a:bodyPr wrap="square" lIns="45720" tIns="27432" rIns="45720" bIns="27432" anchor="ctr">
            <a:spAutoFit/>
          </a:bodyPr>
          <a:lstStyle/>
          <a:p>
            <a:pPr algn="l"/>
            <a:r>
              <a:rPr sz="1700" b="0">
                <a:solidFill>
                  <a:srgbClr val="5F6973"/>
                </a:solidFill>
                <a:latin typeface="Yu Gothic"/>
              </a:rPr>
              <a:t>設定・共通処理・種目固有処理のどこで対応するか確認</a:t>
            </a:r>
          </a:p>
        </p:txBody>
      </p:sp>
      <p:sp>
        <p:nvSpPr>
          <p:cNvPr id="14" name="Rounded Rectangle 13"/>
          <p:cNvSpPr/>
          <p:nvPr/>
        </p:nvSpPr>
        <p:spPr>
          <a:xfrm>
            <a:off x="731520" y="4114800"/>
            <a:ext cx="731520" cy="640080"/>
          </a:xfrm>
          <a:prstGeom prst="roundRect">
            <a:avLst/>
          </a:prstGeom>
          <a:solidFill>
            <a:srgbClr val="E1EBF5"/>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23282D"/>
                </a:solidFill>
                <a:latin typeface="Yu Gothic"/>
              </a:rPr>
              <a:t>04</a:t>
            </a:r>
          </a:p>
        </p:txBody>
      </p:sp>
      <p:sp>
        <p:nvSpPr>
          <p:cNvPr id="15" name="TextBox 14"/>
          <p:cNvSpPr txBox="1"/>
          <p:nvPr/>
        </p:nvSpPr>
        <p:spPr>
          <a:xfrm>
            <a:off x="1737360" y="4096512"/>
            <a:ext cx="2834640" cy="365760"/>
          </a:xfrm>
          <a:prstGeom prst="rect">
            <a:avLst/>
          </a:prstGeom>
          <a:noFill/>
        </p:spPr>
        <p:txBody>
          <a:bodyPr wrap="square" lIns="45720" tIns="27432" rIns="45720" bIns="27432" anchor="ctr">
            <a:spAutoFit/>
          </a:bodyPr>
          <a:lstStyle/>
          <a:p>
            <a:pPr algn="l"/>
            <a:r>
              <a:rPr sz="2000" b="1">
                <a:solidFill>
                  <a:srgbClr val="23282D"/>
                </a:solidFill>
                <a:latin typeface="Yu Gothic"/>
              </a:rPr>
              <a:t>時間的変化を検討</a:t>
            </a:r>
          </a:p>
        </p:txBody>
      </p:sp>
      <p:sp>
        <p:nvSpPr>
          <p:cNvPr id="16" name="TextBox 15"/>
          <p:cNvSpPr txBox="1"/>
          <p:nvPr/>
        </p:nvSpPr>
        <p:spPr>
          <a:xfrm>
            <a:off x="4572000" y="4096512"/>
            <a:ext cx="6858000" cy="594360"/>
          </a:xfrm>
          <a:prstGeom prst="rect">
            <a:avLst/>
          </a:prstGeom>
          <a:noFill/>
        </p:spPr>
        <p:txBody>
          <a:bodyPr wrap="square" lIns="45720" tIns="27432" rIns="45720" bIns="27432" anchor="ctr">
            <a:spAutoFit/>
          </a:bodyPr>
          <a:lstStyle/>
          <a:p>
            <a:pPr algn="l"/>
            <a:r>
              <a:rPr sz="1700" b="0">
                <a:solidFill>
                  <a:srgbClr val="5F6973"/>
                </a:solidFill>
                <a:latin typeface="Yu Gothic"/>
              </a:rPr>
              <a:t>設定・共通処理・種目固有処理のどこで対応するか確認</a:t>
            </a:r>
          </a:p>
        </p:txBody>
      </p:sp>
      <p:sp>
        <p:nvSpPr>
          <p:cNvPr id="17" name="Rounded Rectangle 16"/>
          <p:cNvSpPr/>
          <p:nvPr/>
        </p:nvSpPr>
        <p:spPr>
          <a:xfrm>
            <a:off x="731520" y="5074920"/>
            <a:ext cx="731520" cy="640080"/>
          </a:xfrm>
          <a:prstGeom prst="roundRect">
            <a:avLst/>
          </a:prstGeom>
          <a:solidFill>
            <a:srgbClr val="E1EBF5"/>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23282D"/>
                </a:solidFill>
                <a:latin typeface="Yu Gothic"/>
              </a:rPr>
              <a:t>05</a:t>
            </a:r>
          </a:p>
        </p:txBody>
      </p:sp>
      <p:sp>
        <p:nvSpPr>
          <p:cNvPr id="18" name="TextBox 17"/>
          <p:cNvSpPr txBox="1"/>
          <p:nvPr/>
        </p:nvSpPr>
        <p:spPr>
          <a:xfrm>
            <a:off x="1737360" y="5056632"/>
            <a:ext cx="2834640" cy="365760"/>
          </a:xfrm>
          <a:prstGeom prst="rect">
            <a:avLst/>
          </a:prstGeom>
          <a:noFill/>
        </p:spPr>
        <p:txBody>
          <a:bodyPr wrap="square" lIns="45720" tIns="27432" rIns="45720" bIns="27432" anchor="ctr">
            <a:spAutoFit/>
          </a:bodyPr>
          <a:lstStyle/>
          <a:p>
            <a:pPr algn="l"/>
            <a:r>
              <a:rPr sz="2000" b="1">
                <a:solidFill>
                  <a:srgbClr val="23282D"/>
                </a:solidFill>
                <a:latin typeface="Yu Gothic"/>
              </a:rPr>
              <a:t>境界を整理</a:t>
            </a:r>
          </a:p>
        </p:txBody>
      </p:sp>
      <p:sp>
        <p:nvSpPr>
          <p:cNvPr id="19" name="TextBox 18"/>
          <p:cNvSpPr txBox="1"/>
          <p:nvPr/>
        </p:nvSpPr>
        <p:spPr>
          <a:xfrm>
            <a:off x="4572000" y="5056632"/>
            <a:ext cx="6858000" cy="594360"/>
          </a:xfrm>
          <a:prstGeom prst="rect">
            <a:avLst/>
          </a:prstGeom>
          <a:noFill/>
        </p:spPr>
        <p:txBody>
          <a:bodyPr wrap="square" lIns="45720" tIns="27432" rIns="45720" bIns="27432" anchor="ctr">
            <a:spAutoFit/>
          </a:bodyPr>
          <a:lstStyle/>
          <a:p>
            <a:pPr algn="l"/>
            <a:r>
              <a:rPr sz="1700" b="0">
                <a:solidFill>
                  <a:srgbClr val="5F6973"/>
                </a:solidFill>
                <a:latin typeface="Yu Gothic"/>
              </a:rPr>
              <a:t>種目追加時の変更箇所・コード量も記録</a:t>
            </a:r>
          </a:p>
        </p:txBody>
      </p:sp>
      <p:sp>
        <p:nvSpPr>
          <p:cNvPr id="20" name="TextBox 19"/>
          <p:cNvSpPr txBox="1"/>
          <p:nvPr/>
        </p:nvSpPr>
        <p:spPr>
          <a:xfrm>
            <a:off x="502920" y="6510528"/>
            <a:ext cx="3657600" cy="182880"/>
          </a:xfrm>
          <a:prstGeom prst="rect">
            <a:avLst/>
          </a:prstGeom>
          <a:noFill/>
        </p:spPr>
        <p:txBody>
          <a:bodyPr wrap="square" lIns="45720" tIns="27432" rIns="45720" bIns="27432" anchor="ctr">
            <a:spAutoFit/>
          </a:bodyPr>
          <a:lstStyle/>
          <a:p>
            <a:pPr algn="l"/>
            <a:r>
              <a:rPr sz="900" b="0">
                <a:solidFill>
                  <a:srgbClr val="5F6973"/>
                </a:solidFill>
                <a:latin typeface="Yu Gothic"/>
              </a:rPr>
              <a:t>卒業研究・中間発表</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0698480" cy="502920"/>
          </a:xfrm>
          <a:prstGeom prst="rect">
            <a:avLst/>
          </a:prstGeom>
          <a:noFill/>
        </p:spPr>
        <p:txBody>
          <a:bodyPr wrap="square" lIns="45720" tIns="27432" rIns="45720" bIns="27432" anchor="ctr">
            <a:spAutoFit/>
          </a:bodyPr>
          <a:lstStyle/>
          <a:p>
            <a:pPr algn="l"/>
            <a:r>
              <a:rPr sz="2700" b="1">
                <a:solidFill>
                  <a:srgbClr val="23282D"/>
                </a:solidFill>
                <a:latin typeface="Yu Gothic"/>
              </a:rPr>
              <a:t>10. まとめ</a:t>
            </a:r>
          </a:p>
        </p:txBody>
      </p:sp>
      <p:sp>
        <p:nvSpPr>
          <p:cNvPr id="3" name="TextBox 2"/>
          <p:cNvSpPr txBox="1"/>
          <p:nvPr/>
        </p:nvSpPr>
        <p:spPr>
          <a:xfrm>
            <a:off x="11247120" y="256032"/>
            <a:ext cx="457200" cy="274320"/>
          </a:xfrm>
          <a:prstGeom prst="rect">
            <a:avLst/>
          </a:prstGeom>
          <a:noFill/>
        </p:spPr>
        <p:txBody>
          <a:bodyPr wrap="square" lIns="45720" tIns="27432" rIns="45720" bIns="27432" anchor="ctr">
            <a:spAutoFit/>
          </a:bodyPr>
          <a:lstStyle/>
          <a:p>
            <a:pPr algn="r"/>
            <a:r>
              <a:rPr sz="1200" b="0">
                <a:solidFill>
                  <a:srgbClr val="5F6973"/>
                </a:solidFill>
                <a:latin typeface="Yu Gothic"/>
              </a:rPr>
              <a:t>11</a:t>
            </a:r>
          </a:p>
        </p:txBody>
      </p:sp>
      <p:sp>
        <p:nvSpPr>
          <p:cNvPr id="4" name="Rectangle 3"/>
          <p:cNvSpPr/>
          <p:nvPr/>
        </p:nvSpPr>
        <p:spPr>
          <a:xfrm>
            <a:off x="502920" y="822960"/>
            <a:ext cx="11155680" cy="22860"/>
          </a:xfrm>
          <a:prstGeom prst="rect">
            <a:avLst/>
          </a:prstGeom>
          <a:solidFill>
            <a:srgbClr val="375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097280"/>
            <a:ext cx="5029200" cy="411480"/>
          </a:xfrm>
          <a:prstGeom prst="rect">
            <a:avLst/>
          </a:prstGeom>
          <a:noFill/>
        </p:spPr>
        <p:txBody>
          <a:bodyPr wrap="square" lIns="45720" tIns="27432" rIns="45720" bIns="27432" anchor="ctr">
            <a:spAutoFit/>
          </a:bodyPr>
          <a:lstStyle/>
          <a:p>
            <a:pPr algn="l"/>
            <a:r>
              <a:rPr sz="2300" b="1">
                <a:solidFill>
                  <a:srgbClr val="375F8C"/>
                </a:solidFill>
                <a:latin typeface="Yu Gothic"/>
              </a:rPr>
              <a:t>本研究で明らかにしたいこと</a:t>
            </a:r>
          </a:p>
        </p:txBody>
      </p:sp>
      <p:sp>
        <p:nvSpPr>
          <p:cNvPr id="6" name="TextBox 5"/>
          <p:cNvSpPr txBox="1"/>
          <p:nvPr/>
        </p:nvSpPr>
        <p:spPr>
          <a:xfrm>
            <a:off x="868680" y="1737360"/>
            <a:ext cx="10149840" cy="2377440"/>
          </a:xfrm>
          <a:prstGeom prst="rect">
            <a:avLst/>
          </a:prstGeom>
          <a:noFill/>
        </p:spPr>
        <p:txBody>
          <a:bodyPr wrap="square">
            <a:spAutoFit/>
          </a:bodyPr>
          <a:lstStyle/>
          <a:p>
            <a:pPr>
              <a:spcAft>
                <a:spcPts val="800"/>
              </a:spcAft>
              <a:defRPr sz="2000">
                <a:solidFill>
                  <a:srgbClr val="23282D"/>
                </a:solidFill>
                <a:latin typeface="Yu Gothic"/>
              </a:defRPr>
            </a:pPr>
            <a:r>
              <a:t>・どのような評価方法なら設定変更だけで対応できるか</a:t>
            </a:r>
          </a:p>
          <a:p>
            <a:pPr>
              <a:spcAft>
                <a:spcPts val="800"/>
              </a:spcAft>
              <a:defRPr sz="2000">
                <a:solidFill>
                  <a:srgbClr val="23282D"/>
                </a:solidFill>
                <a:latin typeface="Yu Gothic"/>
              </a:defRPr>
            </a:pPr>
            <a:r>
              <a:t>・どのような場合に共通処理の追加が必要か</a:t>
            </a:r>
          </a:p>
          <a:p>
            <a:pPr>
              <a:spcAft>
                <a:spcPts val="800"/>
              </a:spcAft>
              <a:defRPr sz="2000">
                <a:solidFill>
                  <a:srgbClr val="23282D"/>
                </a:solidFill>
                <a:latin typeface="Yu Gothic"/>
              </a:defRPr>
            </a:pPr>
            <a:r>
              <a:t>・どのような場合に種目固有処理が必要になるか</a:t>
            </a:r>
          </a:p>
          <a:p>
            <a:pPr>
              <a:spcAft>
                <a:spcPts val="800"/>
              </a:spcAft>
              <a:defRPr sz="2000">
                <a:solidFill>
                  <a:srgbClr val="23282D"/>
                </a:solidFill>
                <a:latin typeface="Yu Gothic"/>
              </a:defRPr>
            </a:pPr>
            <a:r>
              <a:t>・共通化によって、種目追加時の既存プログラムの修正をどの程度減らせるか</a:t>
            </a:r>
          </a:p>
        </p:txBody>
      </p:sp>
      <p:sp>
        <p:nvSpPr>
          <p:cNvPr id="7" name="Rounded Rectangle 6"/>
          <p:cNvSpPr/>
          <p:nvPr/>
        </p:nvSpPr>
        <p:spPr>
          <a:xfrm>
            <a:off x="822960" y="4480560"/>
            <a:ext cx="3154680" cy="822960"/>
          </a:xfrm>
          <a:prstGeom prst="roundRect">
            <a:avLst/>
          </a:prstGeom>
          <a:solidFill>
            <a:srgbClr val="E1EBF5"/>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23282D"/>
                </a:solidFill>
                <a:latin typeface="Yu Gothic"/>
              </a:rPr>
              <a:t>種目固有の情報を設定として分離</a:t>
            </a:r>
          </a:p>
        </p:txBody>
      </p:sp>
      <p:cxnSp>
        <p:nvCxnSpPr>
          <p:cNvPr id="8" name="Connector 7"/>
          <p:cNvCxnSpPr/>
          <p:nvPr/>
        </p:nvCxnSpPr>
        <p:spPr>
          <a:xfrm>
            <a:off x="4069080" y="4892040"/>
            <a:ext cx="548640" cy="0"/>
          </a:xfrm>
          <a:prstGeom prst="line">
            <a:avLst/>
          </a:prstGeom>
          <a:ln w="31750">
            <a:solidFill>
              <a:srgbClr val="375F8C"/>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709160" y="4480560"/>
            <a:ext cx="3154680" cy="822960"/>
          </a:xfrm>
          <a:prstGeom prst="roundRect">
            <a:avLst/>
          </a:prstGeom>
          <a:solidFill>
            <a:srgbClr val="E1EBF5"/>
          </a:solidFill>
          <a:ln>
            <a:solidFill>
              <a:srgbClr val="D2D7DC"/>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23282D"/>
                </a:solidFill>
                <a:latin typeface="Yu Gothic"/>
              </a:rPr>
              <a:t>共通処理を複数種目で利用</a:t>
            </a:r>
          </a:p>
        </p:txBody>
      </p:sp>
      <p:cxnSp>
        <p:nvCxnSpPr>
          <p:cNvPr id="10" name="Connector 9"/>
          <p:cNvCxnSpPr/>
          <p:nvPr/>
        </p:nvCxnSpPr>
        <p:spPr>
          <a:xfrm>
            <a:off x="7955279" y="4892040"/>
            <a:ext cx="548641" cy="0"/>
          </a:xfrm>
          <a:prstGeom prst="line">
            <a:avLst/>
          </a:prstGeom>
          <a:ln w="31750">
            <a:solidFill>
              <a:srgbClr val="375F8C"/>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595360" y="4480560"/>
            <a:ext cx="2697480" cy="822960"/>
          </a:xfrm>
          <a:prstGeom prst="roundRect">
            <a:avLst/>
          </a:prstGeom>
          <a:solidFill>
            <a:srgbClr val="E8F2E8"/>
          </a:solidFill>
          <a:ln>
            <a:solidFill>
              <a:srgbClr val="B4CDB9"/>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417850"/>
                </a:solidFill>
                <a:latin typeface="Yu Gothic"/>
              </a:rPr>
              <a:t>修正負担の軽減を確認</a:t>
            </a:r>
          </a:p>
        </p:txBody>
      </p:sp>
      <p:sp>
        <p:nvSpPr>
          <p:cNvPr id="12" name="TextBox 11"/>
          <p:cNvSpPr txBox="1"/>
          <p:nvPr/>
        </p:nvSpPr>
        <p:spPr>
          <a:xfrm>
            <a:off x="777240" y="5623560"/>
            <a:ext cx="10515600" cy="457200"/>
          </a:xfrm>
          <a:prstGeom prst="rect">
            <a:avLst/>
          </a:prstGeom>
          <a:noFill/>
        </p:spPr>
        <p:txBody>
          <a:bodyPr wrap="square" lIns="45720" tIns="27432" rIns="45720" bIns="27432" anchor="ctr">
            <a:spAutoFit/>
          </a:bodyPr>
          <a:lstStyle/>
          <a:p>
            <a:pPr algn="ctr"/>
            <a:r>
              <a:rPr sz="2100" b="1">
                <a:solidFill>
                  <a:srgbClr val="23282D"/>
                </a:solidFill>
                <a:latin typeface="Yu Gothic"/>
              </a:rPr>
              <a:t>設定変更・共通処理・種目固有処理の境界を整理する</a:t>
            </a:r>
          </a:p>
        </p:txBody>
      </p:sp>
      <p:sp>
        <p:nvSpPr>
          <p:cNvPr id="13" name="TextBox 12"/>
          <p:cNvSpPr txBox="1"/>
          <p:nvPr/>
        </p:nvSpPr>
        <p:spPr>
          <a:xfrm>
            <a:off x="502920" y="6510528"/>
            <a:ext cx="3657600" cy="182880"/>
          </a:xfrm>
          <a:prstGeom prst="rect">
            <a:avLst/>
          </a:prstGeom>
          <a:noFill/>
        </p:spPr>
        <p:txBody>
          <a:bodyPr wrap="square" lIns="45720" tIns="27432" rIns="45720" bIns="27432" anchor="ctr">
            <a:spAutoFit/>
          </a:bodyPr>
          <a:lstStyle/>
          <a:p>
            <a:pPr algn="l"/>
            <a:r>
              <a:rPr sz="900" b="0">
                <a:solidFill>
                  <a:srgbClr val="5F6973"/>
                </a:solidFill>
                <a:latin typeface="Yu Gothic"/>
              </a:rPr>
              <a:t>卒業研究・中間発表</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0698480" cy="502920"/>
          </a:xfrm>
          <a:prstGeom prst="rect">
            <a:avLst/>
          </a:prstGeom>
          <a:noFill/>
        </p:spPr>
        <p:txBody>
          <a:bodyPr wrap="square" lIns="45720" tIns="27432" rIns="45720" bIns="27432" anchor="ctr">
            <a:spAutoFit/>
          </a:bodyPr>
          <a:lstStyle/>
          <a:p>
            <a:pPr algn="l"/>
            <a:r>
              <a:rPr sz="2700" b="1">
                <a:solidFill>
                  <a:srgbClr val="23282D"/>
                </a:solidFill>
                <a:latin typeface="Yu Gothic"/>
              </a:rPr>
              <a:t>参考文献</a:t>
            </a:r>
          </a:p>
        </p:txBody>
      </p:sp>
      <p:sp>
        <p:nvSpPr>
          <p:cNvPr id="3" name="TextBox 2"/>
          <p:cNvSpPr txBox="1"/>
          <p:nvPr/>
        </p:nvSpPr>
        <p:spPr>
          <a:xfrm>
            <a:off x="11247120" y="256032"/>
            <a:ext cx="457200" cy="274320"/>
          </a:xfrm>
          <a:prstGeom prst="rect">
            <a:avLst/>
          </a:prstGeom>
          <a:noFill/>
        </p:spPr>
        <p:txBody>
          <a:bodyPr wrap="square" lIns="45720" tIns="27432" rIns="45720" bIns="27432" anchor="ctr">
            <a:spAutoFit/>
          </a:bodyPr>
          <a:lstStyle/>
          <a:p>
            <a:pPr algn="r"/>
            <a:r>
              <a:rPr sz="1200" b="0">
                <a:solidFill>
                  <a:srgbClr val="5F6973"/>
                </a:solidFill>
                <a:latin typeface="Yu Gothic"/>
              </a:rPr>
              <a:t>12</a:t>
            </a:r>
          </a:p>
        </p:txBody>
      </p:sp>
      <p:sp>
        <p:nvSpPr>
          <p:cNvPr id="4" name="Rectangle 3"/>
          <p:cNvSpPr/>
          <p:nvPr/>
        </p:nvSpPr>
        <p:spPr>
          <a:xfrm>
            <a:off x="502920" y="822960"/>
            <a:ext cx="11155680" cy="22860"/>
          </a:xfrm>
          <a:prstGeom prst="rect">
            <a:avLst/>
          </a:prstGeom>
          <a:solidFill>
            <a:srgbClr val="375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280160"/>
            <a:ext cx="10789920" cy="4480560"/>
          </a:xfrm>
          <a:prstGeom prst="rect">
            <a:avLst/>
          </a:prstGeom>
          <a:noFill/>
        </p:spPr>
        <p:txBody>
          <a:bodyPr wrap="square">
            <a:spAutoFit/>
          </a:bodyPr>
          <a:lstStyle/>
          <a:p>
            <a:pPr>
              <a:spcAft>
                <a:spcPts val="800"/>
              </a:spcAft>
              <a:defRPr sz="1400">
                <a:solidFill>
                  <a:srgbClr val="23282D"/>
                </a:solidFill>
                <a:latin typeface="Yu Gothic"/>
              </a:defRPr>
            </a:pPr>
            <a:r>
              <a:t>・[1] 田邉英介 他：運動過程をフィードバックする筋力トレーニング支援システム，2021年度電気・情報関係学会九州支部連合大会講演論文集，p.228，2021．</a:t>
            </a:r>
          </a:p>
          <a:p>
            <a:pPr>
              <a:spcAft>
                <a:spcPts val="800"/>
              </a:spcAft>
              <a:defRPr sz="1400">
                <a:solidFill>
                  <a:srgbClr val="23282D"/>
                </a:solidFill>
                <a:latin typeface="Yu Gothic"/>
              </a:defRPr>
            </a:pPr>
            <a:r>
              <a:t>・[2] C. Mercadal-Baudart, et al.: Exercise quantification from single camera view markerless 3D pose estimation, Heliyon, Vol.10, No.6, e27596, 2024.</a:t>
            </a:r>
          </a:p>
          <a:p>
            <a:pPr>
              <a:spcAft>
                <a:spcPts val="800"/>
              </a:spcAft>
              <a:defRPr sz="1400">
                <a:solidFill>
                  <a:srgbClr val="23282D"/>
                </a:solidFill>
                <a:latin typeface="Yu Gothic"/>
              </a:defRPr>
            </a:pPr>
            <a:r>
              <a:t>・[3] K. Patidar, et al.: Framework for Gym Posture Estimation Using MediaPipe and OpenCV, 2025 IEEE International Conference on Recent Advances in Computing and Systems (REACS), 2025.</a:t>
            </a:r>
          </a:p>
          <a:p>
            <a:pPr>
              <a:spcAft>
                <a:spcPts val="800"/>
              </a:spcAft>
              <a:defRPr sz="1400">
                <a:solidFill>
                  <a:srgbClr val="23282D"/>
                </a:solidFill>
                <a:latin typeface="Yu Gothic"/>
              </a:defRPr>
            </a:pPr>
            <a:r>
              <a:t>・[4] Google AI Edge: MediaPipe Pose Landmarker</a:t>
            </a:r>
          </a:p>
          <a:p>
            <a:pPr>
              <a:spcAft>
                <a:spcPts val="800"/>
              </a:spcAft>
              <a:defRPr sz="1400">
                <a:solidFill>
                  <a:srgbClr val="23282D"/>
                </a:solidFill>
                <a:latin typeface="Yu Gothic"/>
              </a:defRPr>
            </a:pPr>
            <a:r>
              <a:t>・[5] OpenCV: OpenCV Documentation</a:t>
            </a:r>
          </a:p>
        </p:txBody>
      </p:sp>
      <p:sp>
        <p:nvSpPr>
          <p:cNvPr id="6" name="TextBox 5"/>
          <p:cNvSpPr txBox="1"/>
          <p:nvPr/>
        </p:nvSpPr>
        <p:spPr>
          <a:xfrm>
            <a:off x="502920" y="6510528"/>
            <a:ext cx="3657600" cy="182880"/>
          </a:xfrm>
          <a:prstGeom prst="rect">
            <a:avLst/>
          </a:prstGeom>
          <a:noFill/>
        </p:spPr>
        <p:txBody>
          <a:bodyPr wrap="square" lIns="45720" tIns="27432" rIns="45720" bIns="27432" anchor="ctr">
            <a:spAutoFit/>
          </a:bodyPr>
          <a:lstStyle/>
          <a:p>
            <a:pPr algn="l"/>
            <a:r>
              <a:rPr sz="900" b="0">
                <a:solidFill>
                  <a:srgbClr val="5F6973"/>
                </a:solidFill>
                <a:latin typeface="Yu Gothic"/>
              </a:rPr>
              <a:t>卒業研究・中間発表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46</TotalTime>
  <Words>553</Words>
  <Application>Microsoft Office PowerPoint</Application>
  <PresentationFormat>ワイド画面</PresentationFormat>
  <Paragraphs>147</Paragraphs>
  <Slides>12</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12</vt:i4>
      </vt:variant>
    </vt:vector>
  </HeadingPairs>
  <TitlesOfParts>
    <vt:vector size="16" baseType="lpstr">
      <vt:lpstr>Yu Gothic</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23ts030</cp:lastModifiedBy>
  <cp:revision>5</cp:revision>
  <dcterms:created xsi:type="dcterms:W3CDTF">2013-01-27T09:14:16Z</dcterms:created>
  <dcterms:modified xsi:type="dcterms:W3CDTF">2026-09-25T12:33:04Z</dcterms:modified>
  <cp:category/>
</cp:coreProperties>
</file>