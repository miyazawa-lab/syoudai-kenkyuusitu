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56" d="100"/>
          <a:sy n="56" d="100"/>
        </p:scale>
        <p:origin x="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EA6F86-47A7-467C-AB83-969048748FC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64F3159-0373-47BB-8496-3434168807A5}">
      <dgm:prSet/>
      <dgm:spPr/>
      <dgm:t>
        <a:bodyPr/>
        <a:lstStyle/>
        <a:p>
          <a:r>
            <a:rPr kumimoji="1" lang="en-US"/>
            <a:t>C</a:t>
          </a:r>
          <a:r>
            <a:rPr kumimoji="1" lang="ja-JP"/>
            <a:t>言語プログラム</a:t>
          </a:r>
          <a:r>
            <a:rPr kumimoji="1" lang="en-US"/>
            <a:t>: main()</a:t>
          </a:r>
          <a:r>
            <a:rPr kumimoji="1" lang="ja-JP"/>
            <a:t>とかを書き、処理の流れを定義。</a:t>
          </a:r>
          <a:endParaRPr lang="en-US"/>
        </a:p>
      </dgm:t>
    </dgm:pt>
    <dgm:pt modelId="{8D1C4D50-E4AD-4877-8C41-9BFEDAFBE110}" type="parTrans" cxnId="{9BE2F26A-5243-4071-8BA3-04CD316F8875}">
      <dgm:prSet/>
      <dgm:spPr/>
      <dgm:t>
        <a:bodyPr/>
        <a:lstStyle/>
        <a:p>
          <a:endParaRPr lang="en-US"/>
        </a:p>
      </dgm:t>
    </dgm:pt>
    <dgm:pt modelId="{82F7D953-63B3-4250-8D62-ACE560567E24}" type="sibTrans" cxnId="{9BE2F26A-5243-4071-8BA3-04CD316F8875}">
      <dgm:prSet/>
      <dgm:spPr/>
      <dgm:t>
        <a:bodyPr/>
        <a:lstStyle/>
        <a:p>
          <a:endParaRPr lang="en-US"/>
        </a:p>
      </dgm:t>
    </dgm:pt>
    <dgm:pt modelId="{96252D18-6CA2-451E-9E30-E2E35BBAFE22}">
      <dgm:prSet/>
      <dgm:spPr/>
      <dgm:t>
        <a:bodyPr/>
        <a:lstStyle/>
        <a:p>
          <a:r>
            <a:rPr kumimoji="1" lang="ja-JP"/>
            <a:t>ライブラリ</a:t>
          </a:r>
          <a:r>
            <a:rPr kumimoji="1" lang="en-US"/>
            <a:t>:</a:t>
          </a:r>
          <a:r>
            <a:rPr kumimoji="1" lang="ja-JP"/>
            <a:t>よく使う処理をまとめたもの。実行ファイルはライブラリを呼び出して動く。</a:t>
          </a:r>
          <a:endParaRPr lang="en-US"/>
        </a:p>
      </dgm:t>
    </dgm:pt>
    <dgm:pt modelId="{D2BA5C83-44AD-429F-BB2B-F712693D8001}" type="parTrans" cxnId="{1775CDB1-ED6C-4011-83E2-02D3C2360B62}">
      <dgm:prSet/>
      <dgm:spPr/>
      <dgm:t>
        <a:bodyPr/>
        <a:lstStyle/>
        <a:p>
          <a:endParaRPr lang="en-US"/>
        </a:p>
      </dgm:t>
    </dgm:pt>
    <dgm:pt modelId="{B7F72747-6D58-44D4-93C9-5A32DEF542BF}" type="sibTrans" cxnId="{1775CDB1-ED6C-4011-83E2-02D3C2360B62}">
      <dgm:prSet/>
      <dgm:spPr/>
      <dgm:t>
        <a:bodyPr/>
        <a:lstStyle/>
        <a:p>
          <a:endParaRPr lang="en-US"/>
        </a:p>
      </dgm:t>
    </dgm:pt>
    <dgm:pt modelId="{6D246B1E-7AB4-4176-845E-EA2D92ABB940}">
      <dgm:prSet/>
      <dgm:spPr/>
      <dgm:t>
        <a:bodyPr/>
        <a:lstStyle/>
        <a:p>
          <a:r>
            <a:rPr kumimoji="1" lang="ja-JP"/>
            <a:t>プロセス</a:t>
          </a:r>
          <a:r>
            <a:rPr kumimoji="1" lang="en-US"/>
            <a:t>:</a:t>
          </a:r>
          <a:r>
            <a:rPr kumimoji="1" lang="ja-JP"/>
            <a:t>実行ファイルが</a:t>
          </a:r>
          <a:r>
            <a:rPr kumimoji="1" lang="en-US"/>
            <a:t>OS</a:t>
          </a:r>
          <a:r>
            <a:rPr kumimoji="1" lang="ja-JP"/>
            <a:t>の上で動き始めた</a:t>
          </a:r>
          <a:r>
            <a:rPr lang="ja-JP"/>
            <a:t>「実行中のプログラム」。メモリや</a:t>
          </a:r>
          <a:r>
            <a:rPr lang="en-US"/>
            <a:t>CPU</a:t>
          </a:r>
          <a:r>
            <a:rPr lang="ja-JP"/>
            <a:t>などのリソースを</a:t>
          </a:r>
          <a:r>
            <a:rPr lang="en-US"/>
            <a:t>OS</a:t>
          </a:r>
          <a:r>
            <a:rPr lang="ja-JP"/>
            <a:t>から割り当ててもらう。</a:t>
          </a:r>
          <a:endParaRPr lang="en-US"/>
        </a:p>
      </dgm:t>
    </dgm:pt>
    <dgm:pt modelId="{AE329A45-A09D-40BC-A8D0-002BCB3FC850}" type="parTrans" cxnId="{D5EBF139-8A83-43C9-A918-31A3B67FA600}">
      <dgm:prSet/>
      <dgm:spPr/>
      <dgm:t>
        <a:bodyPr/>
        <a:lstStyle/>
        <a:p>
          <a:endParaRPr lang="en-US"/>
        </a:p>
      </dgm:t>
    </dgm:pt>
    <dgm:pt modelId="{07F35882-54B3-411D-B752-AE3AA36DC8B9}" type="sibTrans" cxnId="{D5EBF139-8A83-43C9-A918-31A3B67FA600}">
      <dgm:prSet/>
      <dgm:spPr/>
      <dgm:t>
        <a:bodyPr/>
        <a:lstStyle/>
        <a:p>
          <a:endParaRPr lang="en-US"/>
        </a:p>
      </dgm:t>
    </dgm:pt>
    <dgm:pt modelId="{6050451A-88D5-4FFC-9406-1C2A6C584A3B}">
      <dgm:prSet/>
      <dgm:spPr/>
      <dgm:t>
        <a:bodyPr/>
        <a:lstStyle/>
        <a:p>
          <a:r>
            <a:rPr lang="en-US"/>
            <a:t>OS</a:t>
          </a:r>
          <a:r>
            <a:rPr lang="ja-JP"/>
            <a:t>カーネル</a:t>
          </a:r>
          <a:r>
            <a:rPr lang="en-US"/>
            <a:t>: OS </a:t>
          </a:r>
          <a:r>
            <a:rPr lang="ja-JP"/>
            <a:t>の中枢。ハードウェアを直接管理し、プロセスに </a:t>
          </a:r>
          <a:r>
            <a:rPr lang="en-US"/>
            <a:t>CPU</a:t>
          </a:r>
          <a:r>
            <a:rPr lang="ja-JP"/>
            <a:t>・メモリ・ファイルアクセスなどを割り当てる。</a:t>
          </a:r>
          <a:r>
            <a:rPr lang="en-US"/>
            <a:t>Linux </a:t>
          </a:r>
          <a:r>
            <a:rPr lang="ja-JP"/>
            <a:t>の心臓部分である。</a:t>
          </a:r>
          <a:endParaRPr lang="en-US"/>
        </a:p>
      </dgm:t>
    </dgm:pt>
    <dgm:pt modelId="{52ABBE96-6FD7-4ADA-8CA0-5CA887622D6B}" type="parTrans" cxnId="{A2E6D714-1DE9-4504-9409-80CDCD32CD98}">
      <dgm:prSet/>
      <dgm:spPr/>
      <dgm:t>
        <a:bodyPr/>
        <a:lstStyle/>
        <a:p>
          <a:endParaRPr lang="en-US"/>
        </a:p>
      </dgm:t>
    </dgm:pt>
    <dgm:pt modelId="{6A07E216-EB24-4F9A-AEEC-00261C8EDD63}" type="sibTrans" cxnId="{A2E6D714-1DE9-4504-9409-80CDCD32CD98}">
      <dgm:prSet/>
      <dgm:spPr/>
      <dgm:t>
        <a:bodyPr/>
        <a:lstStyle/>
        <a:p>
          <a:endParaRPr lang="en-US"/>
        </a:p>
      </dgm:t>
    </dgm:pt>
    <dgm:pt modelId="{7CB28639-89B6-42B0-9417-BE7BEC77D3DC}" type="pres">
      <dgm:prSet presAssocID="{0CEA6F86-47A7-467C-AB83-969048748FC4}" presName="linear" presStyleCnt="0">
        <dgm:presLayoutVars>
          <dgm:animLvl val="lvl"/>
          <dgm:resizeHandles val="exact"/>
        </dgm:presLayoutVars>
      </dgm:prSet>
      <dgm:spPr/>
    </dgm:pt>
    <dgm:pt modelId="{906F5D3C-19C0-41D2-97CE-4ACD2AB64E72}" type="pres">
      <dgm:prSet presAssocID="{764F3159-0373-47BB-8496-3434168807A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3E7D560-8896-46AD-867D-BB886E90B7DE}" type="pres">
      <dgm:prSet presAssocID="{82F7D953-63B3-4250-8D62-ACE560567E24}" presName="spacer" presStyleCnt="0"/>
      <dgm:spPr/>
    </dgm:pt>
    <dgm:pt modelId="{CC0DE25F-1DF0-4CA2-9F2F-D6E3E42F6BFB}" type="pres">
      <dgm:prSet presAssocID="{96252D18-6CA2-451E-9E30-E2E35BBAFE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47EFB8A-8C9F-435D-811B-2151819069BD}" type="pres">
      <dgm:prSet presAssocID="{B7F72747-6D58-44D4-93C9-5A32DEF542BF}" presName="spacer" presStyleCnt="0"/>
      <dgm:spPr/>
    </dgm:pt>
    <dgm:pt modelId="{C454D40D-27FD-486A-A214-EF6D8755F950}" type="pres">
      <dgm:prSet presAssocID="{6D246B1E-7AB4-4176-845E-EA2D92ABB94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3387FA9-3511-4C8C-B826-57DEB9C8E8CC}" type="pres">
      <dgm:prSet presAssocID="{07F35882-54B3-411D-B752-AE3AA36DC8B9}" presName="spacer" presStyleCnt="0"/>
      <dgm:spPr/>
    </dgm:pt>
    <dgm:pt modelId="{FB7B8928-A3E1-48FA-BADA-AE9B7B791FF6}" type="pres">
      <dgm:prSet presAssocID="{6050451A-88D5-4FFC-9406-1C2A6C584A3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2E6D714-1DE9-4504-9409-80CDCD32CD98}" srcId="{0CEA6F86-47A7-467C-AB83-969048748FC4}" destId="{6050451A-88D5-4FFC-9406-1C2A6C584A3B}" srcOrd="3" destOrd="0" parTransId="{52ABBE96-6FD7-4ADA-8CA0-5CA887622D6B}" sibTransId="{6A07E216-EB24-4F9A-AEEC-00261C8EDD63}"/>
    <dgm:cxn modelId="{6DD92833-4E04-40FC-993F-5308A64AC453}" type="presOf" srcId="{764F3159-0373-47BB-8496-3434168807A5}" destId="{906F5D3C-19C0-41D2-97CE-4ACD2AB64E72}" srcOrd="0" destOrd="0" presId="urn:microsoft.com/office/officeart/2005/8/layout/vList2"/>
    <dgm:cxn modelId="{D5EBF139-8A83-43C9-A918-31A3B67FA600}" srcId="{0CEA6F86-47A7-467C-AB83-969048748FC4}" destId="{6D246B1E-7AB4-4176-845E-EA2D92ABB940}" srcOrd="2" destOrd="0" parTransId="{AE329A45-A09D-40BC-A8D0-002BCB3FC850}" sibTransId="{07F35882-54B3-411D-B752-AE3AA36DC8B9}"/>
    <dgm:cxn modelId="{9BE2F26A-5243-4071-8BA3-04CD316F8875}" srcId="{0CEA6F86-47A7-467C-AB83-969048748FC4}" destId="{764F3159-0373-47BB-8496-3434168807A5}" srcOrd="0" destOrd="0" parTransId="{8D1C4D50-E4AD-4877-8C41-9BFEDAFBE110}" sibTransId="{82F7D953-63B3-4250-8D62-ACE560567E24}"/>
    <dgm:cxn modelId="{1775CDB1-ED6C-4011-83E2-02D3C2360B62}" srcId="{0CEA6F86-47A7-467C-AB83-969048748FC4}" destId="{96252D18-6CA2-451E-9E30-E2E35BBAFE22}" srcOrd="1" destOrd="0" parTransId="{D2BA5C83-44AD-429F-BB2B-F712693D8001}" sibTransId="{B7F72747-6D58-44D4-93C9-5A32DEF542BF}"/>
    <dgm:cxn modelId="{90B68DC5-90EF-4F00-A24E-CF09C9A15711}" type="presOf" srcId="{6D246B1E-7AB4-4176-845E-EA2D92ABB940}" destId="{C454D40D-27FD-486A-A214-EF6D8755F950}" srcOrd="0" destOrd="0" presId="urn:microsoft.com/office/officeart/2005/8/layout/vList2"/>
    <dgm:cxn modelId="{68AE15D9-C989-4BCD-B6A5-FD72391F8AA4}" type="presOf" srcId="{6050451A-88D5-4FFC-9406-1C2A6C584A3B}" destId="{FB7B8928-A3E1-48FA-BADA-AE9B7B791FF6}" srcOrd="0" destOrd="0" presId="urn:microsoft.com/office/officeart/2005/8/layout/vList2"/>
    <dgm:cxn modelId="{B86485E8-FBBC-437F-AFDB-D50486772A8B}" type="presOf" srcId="{96252D18-6CA2-451E-9E30-E2E35BBAFE22}" destId="{CC0DE25F-1DF0-4CA2-9F2F-D6E3E42F6BFB}" srcOrd="0" destOrd="0" presId="urn:microsoft.com/office/officeart/2005/8/layout/vList2"/>
    <dgm:cxn modelId="{939808F5-5ED2-400B-B989-7AD9969AE873}" type="presOf" srcId="{0CEA6F86-47A7-467C-AB83-969048748FC4}" destId="{7CB28639-89B6-42B0-9417-BE7BEC77D3DC}" srcOrd="0" destOrd="0" presId="urn:microsoft.com/office/officeart/2005/8/layout/vList2"/>
    <dgm:cxn modelId="{40AF2F92-590D-4C82-A07A-D0CB04DBD651}" type="presParOf" srcId="{7CB28639-89B6-42B0-9417-BE7BEC77D3DC}" destId="{906F5D3C-19C0-41D2-97CE-4ACD2AB64E72}" srcOrd="0" destOrd="0" presId="urn:microsoft.com/office/officeart/2005/8/layout/vList2"/>
    <dgm:cxn modelId="{E5454390-7E6B-47EC-B735-82A10C029B6F}" type="presParOf" srcId="{7CB28639-89B6-42B0-9417-BE7BEC77D3DC}" destId="{23E7D560-8896-46AD-867D-BB886E90B7DE}" srcOrd="1" destOrd="0" presId="urn:microsoft.com/office/officeart/2005/8/layout/vList2"/>
    <dgm:cxn modelId="{C7AF0212-4C1B-4442-BFA9-233D6BD136DA}" type="presParOf" srcId="{7CB28639-89B6-42B0-9417-BE7BEC77D3DC}" destId="{CC0DE25F-1DF0-4CA2-9F2F-D6E3E42F6BFB}" srcOrd="2" destOrd="0" presId="urn:microsoft.com/office/officeart/2005/8/layout/vList2"/>
    <dgm:cxn modelId="{E24AA897-A024-4E0F-B187-71D4D9E5A238}" type="presParOf" srcId="{7CB28639-89B6-42B0-9417-BE7BEC77D3DC}" destId="{447EFB8A-8C9F-435D-811B-2151819069BD}" srcOrd="3" destOrd="0" presId="urn:microsoft.com/office/officeart/2005/8/layout/vList2"/>
    <dgm:cxn modelId="{87B66BB8-A072-4259-9DE2-9C873E14A5DB}" type="presParOf" srcId="{7CB28639-89B6-42B0-9417-BE7BEC77D3DC}" destId="{C454D40D-27FD-486A-A214-EF6D8755F950}" srcOrd="4" destOrd="0" presId="urn:microsoft.com/office/officeart/2005/8/layout/vList2"/>
    <dgm:cxn modelId="{813B07AC-7E6A-4C8C-8293-E42FF1BE197E}" type="presParOf" srcId="{7CB28639-89B6-42B0-9417-BE7BEC77D3DC}" destId="{73387FA9-3511-4C8C-B826-57DEB9C8E8CC}" srcOrd="5" destOrd="0" presId="urn:microsoft.com/office/officeart/2005/8/layout/vList2"/>
    <dgm:cxn modelId="{7DA5CAAC-E234-4EE1-8937-02DB41A5F2ED}" type="presParOf" srcId="{7CB28639-89B6-42B0-9417-BE7BEC77D3DC}" destId="{FB7B8928-A3E1-48FA-BADA-AE9B7B791FF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F5D3C-19C0-41D2-97CE-4ACD2AB64E72}">
      <dsp:nvSpPr>
        <dsp:cNvPr id="0" name=""/>
        <dsp:cNvSpPr/>
      </dsp:nvSpPr>
      <dsp:spPr>
        <a:xfrm>
          <a:off x="0" y="106782"/>
          <a:ext cx="10515600" cy="99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/>
            <a:t>C</a:t>
          </a:r>
          <a:r>
            <a:rPr kumimoji="1" lang="ja-JP" sz="1900" kern="1200"/>
            <a:t>言語プログラム</a:t>
          </a:r>
          <a:r>
            <a:rPr kumimoji="1" lang="en-US" sz="1900" kern="1200"/>
            <a:t>: main()</a:t>
          </a:r>
          <a:r>
            <a:rPr kumimoji="1" lang="ja-JP" sz="1900" kern="1200"/>
            <a:t>とかを書き、処理の流れを定義。</a:t>
          </a:r>
          <a:endParaRPr lang="en-US" sz="1900" kern="1200"/>
        </a:p>
      </dsp:txBody>
      <dsp:txXfrm>
        <a:off x="48494" y="155276"/>
        <a:ext cx="10418612" cy="896415"/>
      </dsp:txXfrm>
    </dsp:sp>
    <dsp:sp modelId="{CC0DE25F-1DF0-4CA2-9F2F-D6E3E42F6BFB}">
      <dsp:nvSpPr>
        <dsp:cNvPr id="0" name=""/>
        <dsp:cNvSpPr/>
      </dsp:nvSpPr>
      <dsp:spPr>
        <a:xfrm>
          <a:off x="0" y="1154905"/>
          <a:ext cx="10515600" cy="99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1900" kern="1200"/>
            <a:t>ライブラリ</a:t>
          </a:r>
          <a:r>
            <a:rPr kumimoji="1" lang="en-US" sz="1900" kern="1200"/>
            <a:t>:</a:t>
          </a:r>
          <a:r>
            <a:rPr kumimoji="1" lang="ja-JP" sz="1900" kern="1200"/>
            <a:t>よく使う処理をまとめたもの。実行ファイルはライブラリを呼び出して動く。</a:t>
          </a:r>
          <a:endParaRPr lang="en-US" sz="1900" kern="1200"/>
        </a:p>
      </dsp:txBody>
      <dsp:txXfrm>
        <a:off x="48494" y="1203399"/>
        <a:ext cx="10418612" cy="896415"/>
      </dsp:txXfrm>
    </dsp:sp>
    <dsp:sp modelId="{C454D40D-27FD-486A-A214-EF6D8755F950}">
      <dsp:nvSpPr>
        <dsp:cNvPr id="0" name=""/>
        <dsp:cNvSpPr/>
      </dsp:nvSpPr>
      <dsp:spPr>
        <a:xfrm>
          <a:off x="0" y="2203029"/>
          <a:ext cx="10515600" cy="99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1900" kern="1200"/>
            <a:t>プロセス</a:t>
          </a:r>
          <a:r>
            <a:rPr kumimoji="1" lang="en-US" sz="1900" kern="1200"/>
            <a:t>:</a:t>
          </a:r>
          <a:r>
            <a:rPr kumimoji="1" lang="ja-JP" sz="1900" kern="1200"/>
            <a:t>実行ファイルが</a:t>
          </a:r>
          <a:r>
            <a:rPr kumimoji="1" lang="en-US" sz="1900" kern="1200"/>
            <a:t>OS</a:t>
          </a:r>
          <a:r>
            <a:rPr kumimoji="1" lang="ja-JP" sz="1900" kern="1200"/>
            <a:t>の上で動き始めた</a:t>
          </a:r>
          <a:r>
            <a:rPr lang="ja-JP" sz="1900" kern="1200"/>
            <a:t>「実行中のプログラム」。メモリや</a:t>
          </a:r>
          <a:r>
            <a:rPr lang="en-US" sz="1900" kern="1200"/>
            <a:t>CPU</a:t>
          </a:r>
          <a:r>
            <a:rPr lang="ja-JP" sz="1900" kern="1200"/>
            <a:t>などのリソースを</a:t>
          </a:r>
          <a:r>
            <a:rPr lang="en-US" sz="1900" kern="1200"/>
            <a:t>OS</a:t>
          </a:r>
          <a:r>
            <a:rPr lang="ja-JP" sz="1900" kern="1200"/>
            <a:t>から割り当ててもらう。</a:t>
          </a:r>
          <a:endParaRPr lang="en-US" sz="1900" kern="1200"/>
        </a:p>
      </dsp:txBody>
      <dsp:txXfrm>
        <a:off x="48494" y="2251523"/>
        <a:ext cx="10418612" cy="896415"/>
      </dsp:txXfrm>
    </dsp:sp>
    <dsp:sp modelId="{FB7B8928-A3E1-48FA-BADA-AE9B7B791FF6}">
      <dsp:nvSpPr>
        <dsp:cNvPr id="0" name=""/>
        <dsp:cNvSpPr/>
      </dsp:nvSpPr>
      <dsp:spPr>
        <a:xfrm>
          <a:off x="0" y="3251152"/>
          <a:ext cx="10515600" cy="99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OS</a:t>
          </a:r>
          <a:r>
            <a:rPr lang="ja-JP" sz="1900" kern="1200"/>
            <a:t>カーネル</a:t>
          </a:r>
          <a:r>
            <a:rPr lang="en-US" sz="1900" kern="1200"/>
            <a:t>: OS </a:t>
          </a:r>
          <a:r>
            <a:rPr lang="ja-JP" sz="1900" kern="1200"/>
            <a:t>の中枢。ハードウェアを直接管理し、プロセスに </a:t>
          </a:r>
          <a:r>
            <a:rPr lang="en-US" sz="1900" kern="1200"/>
            <a:t>CPU</a:t>
          </a:r>
          <a:r>
            <a:rPr lang="ja-JP" sz="1900" kern="1200"/>
            <a:t>・メモリ・ファイルアクセスなどを割り当てる。</a:t>
          </a:r>
          <a:r>
            <a:rPr lang="en-US" sz="1900" kern="1200"/>
            <a:t>Linux </a:t>
          </a:r>
          <a:r>
            <a:rPr lang="ja-JP" sz="1900" kern="1200"/>
            <a:t>の心臓部分である。</a:t>
          </a:r>
          <a:endParaRPr lang="en-US" sz="1900" kern="1200"/>
        </a:p>
      </dsp:txBody>
      <dsp:txXfrm>
        <a:off x="48494" y="3299646"/>
        <a:ext cx="10418612" cy="8964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E6791B-113D-9BE3-B22F-C84D0AEF9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653F6D6-AD0A-0D17-E3DA-E37D283CF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B1426C-9DE6-F3BC-76AE-CB9C9F331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00BE-44F4-446D-BF13-5960550C894B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633E63-9D0B-BDDC-EB54-B34A9BB3E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11D460-3DF8-3043-136E-1DAC3FFE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AB9D-04B5-4014-ADF1-A7BA9CB471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251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CF4552-7482-FDB9-6C39-B7F05E279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609043-D774-E42C-3491-D4F9B8E73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737D88-0846-F168-4D90-C7416DEA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00BE-44F4-446D-BF13-5960550C894B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2D4E0D-FF96-892B-A7B7-E5DA2870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EFF092-FE2E-8200-2E4C-11A5FFE11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AB9D-04B5-4014-ADF1-A7BA9CB471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209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CE6865-27DF-ABCA-C1D4-8B4B6BC3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CC100B-AB4A-0165-25B2-BF551FE44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451706-BB65-844A-2E34-1321070D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00BE-44F4-446D-BF13-5960550C894B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5CB5D8-99AB-1920-306E-D7840A5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61D9B8-0FCE-FCF7-5B6A-485BC610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AB9D-04B5-4014-ADF1-A7BA9CB471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392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BF9F80-94E6-17A0-70CB-D77A2AFF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4A2395-F4B5-E65E-1201-C1B801CFC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5D1105-3873-7C5B-55AC-0E1E716B7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D0F0CA8-64FB-AA04-7E35-E7EB89E2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00BE-44F4-446D-BF13-5960550C894B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0420D7-68CB-AA7F-3927-B212F42C3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EFD05D-3812-C6C6-3103-015B1E7B0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AB9D-04B5-4014-ADF1-A7BA9CB471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487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2D6736-C537-73A9-9102-5ADB6A7B4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BC6CE8-11F9-40E0-A1EA-C0D75BC03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85704E-648A-BE5D-4428-BF593637C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F37A9F-E90F-6361-17C5-D87460E6E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7C62830-D877-75CF-0A60-F7CC5F35CB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EAC28D9-0438-660B-F662-A21486793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00BE-44F4-446D-BF13-5960550C894B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E90BF00-F331-4DF4-2A68-6362D4E6F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114BEB3-E4F3-D709-27A1-F6DD2143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AB9D-04B5-4014-ADF1-A7BA9CB471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35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F5BD85-D46D-B1F6-E3DE-D4325CE9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CC54217-830C-9B33-9975-B474F7D94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00BE-44F4-446D-BF13-5960550C894B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4813A04-824C-4600-9994-5B0C05944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C33DA8-3665-45A5-BB59-86D1C6FA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AB9D-04B5-4014-ADF1-A7BA9CB471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5669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7792518-802A-E6A5-DC3E-49DA3C8AC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00BE-44F4-446D-BF13-5960550C894B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3850DFF-E744-7C85-A65E-ADA096A76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7DDFA9-EF1E-FF9D-0F63-F05DAE6A3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AB9D-04B5-4014-ADF1-A7BA9CB471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365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7161FA-7ADE-0591-A8D3-F31CCF158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CAB6EC-9880-13AC-C2D9-F897AF3E2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62AC1D-DD72-DD8C-4838-CE3C6E461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4A1F9E-A328-7CFD-5EC7-AFDAC2870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00BE-44F4-446D-BF13-5960550C894B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5C1303-1699-9A54-D8D4-6429CC16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6F14B3-6BFD-ED7C-7620-CD3B9245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AB9D-04B5-4014-ADF1-A7BA9CB471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76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B5784-1845-58A3-89D2-8ABDE52CF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CAB6CC7-4C78-A972-2C9E-12291B55A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192F44-98FE-3D3C-5717-8F989FBBE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DB350F1-56FE-9B81-BA69-A4A75C425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00BE-44F4-446D-BF13-5960550C894B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EB4F68-5EB4-D211-4884-D669F7968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89BC5A-BD9E-747D-7077-5643FE30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AB9D-04B5-4014-ADF1-A7BA9CB471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6934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09D63-5A1A-3BA7-CAA1-8BCBF52B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6AFED4-0A2D-E8E8-96D1-2D86399A4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4E3131-C079-ECCF-52EC-274B59ED3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00BE-44F4-446D-BF13-5960550C894B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3316BC-8B2F-7B07-9197-26372690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4F302E-428F-F134-51D5-A2600B2C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AB9D-04B5-4014-ADF1-A7BA9CB471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1647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63CDF7C-22D2-584C-6931-018983C30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2AF2E9-A85A-EB26-ED5C-A6D8B125C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0518F-F2B0-BD61-970C-601DBD4D1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00BE-44F4-446D-BF13-5960550C894B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E4A8A8-E0D5-F10B-1591-DD8A16E62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C375E2-2397-E957-FBF7-CB5176DE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AB9D-04B5-4014-ADF1-A7BA9CB471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841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B3DCEBA-2A28-A97D-ADF4-B19EF54B8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3167B8-492C-4648-B0F8-9E12BDD35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7543C3-4EEF-CE71-122F-A27C7455D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C900BE-44F4-446D-BF13-5960550C894B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E0EADE-5A27-A558-CC0D-3FD67EC03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BCB48A-60E2-F14A-6F4E-BB72D9BE2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DAB9D-04B5-4014-ADF1-A7BA9CB471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04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zukiazusa.dev/blog/kubernetes-glossary/" TargetMode="External"/><Relationship Id="rId2" Type="http://schemas.openxmlformats.org/officeDocument/2006/relationships/hyperlink" Target="https://kubernetes.io/docs/hom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AFFC7BB-831A-AFFD-F2A2-787EEFFBF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kumimoji="1" lang="ja-JP" altLang="en-US" sz="4800">
                <a:solidFill>
                  <a:srgbClr val="FFFFFF"/>
                </a:solidFill>
              </a:rPr>
              <a:t>第</a:t>
            </a:r>
            <a:r>
              <a:rPr kumimoji="1" lang="en-US" altLang="ja-JP" sz="4800">
                <a:solidFill>
                  <a:srgbClr val="FFFFFF"/>
                </a:solidFill>
              </a:rPr>
              <a:t>4</a:t>
            </a:r>
            <a:r>
              <a:rPr kumimoji="1" lang="ja-JP" altLang="en-US" sz="4800">
                <a:solidFill>
                  <a:srgbClr val="FFFFFF"/>
                </a:solidFill>
              </a:rPr>
              <a:t>回研究室　</a:t>
            </a:r>
            <a:r>
              <a:rPr kumimoji="1" lang="en-US" altLang="ja-JP" sz="4800">
                <a:solidFill>
                  <a:srgbClr val="FFFFFF"/>
                </a:solidFill>
              </a:rPr>
              <a:t>2</a:t>
            </a:r>
            <a:endParaRPr kumimoji="1" lang="ja-JP" altLang="en-US" sz="4800">
              <a:solidFill>
                <a:srgbClr val="FFFFFF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F916689-EE67-F1E7-A74B-D3BDB9379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kumimoji="1" lang="en-US" altLang="ja-JP" dirty="0"/>
              <a:t>2023TS030 </a:t>
            </a:r>
            <a:r>
              <a:rPr kumimoji="1" lang="ja-JP" altLang="en-US" dirty="0"/>
              <a:t>川瀬　翔大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497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615D8-EDBA-188A-3277-605DC34A7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313" y="45720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説明</a:t>
            </a:r>
          </a:p>
        </p:txBody>
      </p:sp>
      <p:graphicFrame>
        <p:nvGraphicFramePr>
          <p:cNvPr id="11" name="コンテンツ プレースホルダー 6">
            <a:extLst>
              <a:ext uri="{FF2B5EF4-FFF2-40B4-BE49-F238E27FC236}">
                <a16:creationId xmlns:a16="http://schemas.microsoft.com/office/drawing/2014/main" id="{1481FA20-2DB4-BC4F-6CAD-FEC02BC38C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24CBA49-7686-0A09-E3C4-77626768D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877"/>
            <a:ext cx="31611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。 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559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F9E2818-60C9-5EE3-7F61-AAC24C7BE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sz="4000">
                <a:solidFill>
                  <a:srgbClr val="FFFFFF"/>
                </a:solidFill>
              </a:rPr>
              <a:t>説明</a:t>
            </a:r>
            <a:r>
              <a:rPr kumimoji="1" lang="en-US" altLang="ja-JP" sz="4000">
                <a:solidFill>
                  <a:srgbClr val="FFFFFF"/>
                </a:solidFill>
              </a:rPr>
              <a:t>2(</a:t>
            </a:r>
            <a:r>
              <a:rPr kumimoji="1" lang="ja-JP" altLang="en-US" sz="4000">
                <a:solidFill>
                  <a:srgbClr val="FFFFFF"/>
                </a:solidFill>
              </a:rPr>
              <a:t>コンテナ</a:t>
            </a:r>
            <a:r>
              <a:rPr kumimoji="1" lang="en-US" altLang="ja-JP" sz="4000">
                <a:solidFill>
                  <a:srgbClr val="FFFFFF"/>
                </a:solidFill>
              </a:rPr>
              <a:t>)</a:t>
            </a:r>
            <a:endParaRPr kumimoji="1" lang="ja-JP" altLang="en-US" sz="4000">
              <a:solidFill>
                <a:srgbClr val="FFFFFF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A330A9-B9E3-61A7-A2DB-85CC488B0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ja-JP" altLang="en-US" sz="2000"/>
              <a:t>名前空間（</a:t>
            </a:r>
            <a:r>
              <a:rPr lang="en-US" altLang="ja-JP" sz="2000"/>
              <a:t>Namespace</a:t>
            </a:r>
            <a:r>
              <a:rPr lang="ja-JP" altLang="en-US" sz="2000"/>
              <a:t>）</a:t>
            </a:r>
            <a:r>
              <a:rPr lang="en-US" altLang="ja-JP" sz="2000"/>
              <a:t>: Linux</a:t>
            </a:r>
            <a:r>
              <a:rPr lang="ja-JP" altLang="en-US" sz="2000"/>
              <a:t>カーネルの機能で、プロセスごとに見える世界を分ける仕組み。コンテナの隔離の正体。</a:t>
            </a:r>
            <a:endParaRPr lang="en-US" altLang="ja-JP" sz="2000"/>
          </a:p>
          <a:p>
            <a:endParaRPr kumimoji="1" lang="en-US" altLang="ja-JP" sz="2000"/>
          </a:p>
          <a:p>
            <a:r>
              <a:rPr lang="en-US" altLang="ja-JP" sz="2000"/>
              <a:t>Docker</a:t>
            </a:r>
            <a:r>
              <a:rPr lang="ja-JP" altLang="en-US" sz="2000"/>
              <a:t>イメージ</a:t>
            </a:r>
            <a:r>
              <a:rPr lang="en-US" altLang="ja-JP" sz="2000"/>
              <a:t>:</a:t>
            </a:r>
            <a:r>
              <a:rPr lang="ja-JP" altLang="en-US" sz="2000"/>
              <a:t>コンテナを作るための設計図。アプリやライブラリなどを含む。</a:t>
            </a:r>
            <a:endParaRPr lang="en-US" altLang="ja-JP" sz="2000"/>
          </a:p>
          <a:p>
            <a:endParaRPr kumimoji="1" lang="en-US" altLang="ja-JP" sz="2000"/>
          </a:p>
          <a:p>
            <a:r>
              <a:rPr lang="en-US" altLang="ja-JP" sz="2000"/>
              <a:t>Dockerfile: Docker</a:t>
            </a:r>
            <a:r>
              <a:rPr lang="ja-JP" altLang="en-US" sz="2000"/>
              <a:t>イメージを作る手順を記述したファイル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118377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610D55C-C798-C2B7-938D-7FBC4B456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ja-JP" altLang="en-US" sz="4000">
                <a:solidFill>
                  <a:srgbClr val="FFFFFF"/>
                </a:solidFill>
              </a:rPr>
              <a:t>説明</a:t>
            </a:r>
            <a:r>
              <a:rPr lang="en-US" altLang="ja-JP" sz="4000">
                <a:solidFill>
                  <a:srgbClr val="FFFFFF"/>
                </a:solidFill>
              </a:rPr>
              <a:t>3(Kubernetes)</a:t>
            </a:r>
            <a:endParaRPr kumimoji="1" lang="ja-JP" altLang="en-US" sz="4000">
              <a:solidFill>
                <a:srgbClr val="FFFFFF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D5A3E8-8850-A366-B428-8C336CFE8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ja-JP" altLang="en-US" sz="2000"/>
              <a:t>マスターノード（</a:t>
            </a:r>
            <a:r>
              <a:rPr lang="en-US" altLang="ja-JP" sz="2000"/>
              <a:t>Master Node):</a:t>
            </a:r>
            <a:r>
              <a:rPr lang="ja-JP" altLang="en-US" sz="2000"/>
              <a:t>全体の司令塔。どこでコンテナを動かすかなどを決める</a:t>
            </a:r>
            <a:endParaRPr lang="en-US" altLang="ja-JP" sz="2000"/>
          </a:p>
          <a:p>
            <a:endParaRPr kumimoji="1" lang="en-US" altLang="ja-JP" sz="2000"/>
          </a:p>
          <a:p>
            <a:r>
              <a:rPr lang="en-US" altLang="ja-JP" sz="2000"/>
              <a:t>Pod:Kubernetes</a:t>
            </a:r>
            <a:r>
              <a:rPr lang="ja-JP" altLang="en-US" sz="2000"/>
              <a:t>での最小単位。</a:t>
            </a:r>
            <a:r>
              <a:rPr lang="en-US" altLang="ja-JP" sz="2000"/>
              <a:t>1</a:t>
            </a:r>
            <a:r>
              <a:rPr lang="ja-JP" altLang="en-US" sz="2000"/>
              <a:t>つ以上のコンテナをまとめた実行ユニット。</a:t>
            </a:r>
            <a:endParaRPr lang="en-US" altLang="ja-JP" sz="2000"/>
          </a:p>
          <a:p>
            <a:endParaRPr kumimoji="1" lang="en-US" altLang="ja-JP" sz="2000"/>
          </a:p>
          <a:p>
            <a:r>
              <a:rPr lang="en-US" altLang="ja-JP" sz="2000"/>
              <a:t>Pod</a:t>
            </a:r>
            <a:r>
              <a:rPr lang="ja-JP" altLang="en-US" sz="2000"/>
              <a:t>間ネットワーク</a:t>
            </a:r>
            <a:r>
              <a:rPr lang="en-US" altLang="ja-JP" sz="2000"/>
              <a:t>:Pod</a:t>
            </a:r>
            <a:r>
              <a:rPr lang="ja-JP" altLang="en-US" sz="2000"/>
              <a:t>同士が通信できるようにするネットワーク機構。すべての</a:t>
            </a:r>
            <a:r>
              <a:rPr lang="en-US" altLang="ja-JP" sz="2000"/>
              <a:t>Pod</a:t>
            </a:r>
            <a:r>
              <a:rPr lang="ja-JP" altLang="en-US" sz="2000"/>
              <a:t>が相互に通信可能</a:t>
            </a:r>
            <a:endParaRPr lang="en-US" altLang="ja-JP" sz="2000"/>
          </a:p>
          <a:p>
            <a:r>
              <a:rPr lang="en-US" altLang="ja-JP" sz="2000"/>
              <a:t>Kube-proxy:</a:t>
            </a:r>
            <a:r>
              <a:rPr lang="ja-JP" altLang="en-US" sz="2000"/>
              <a:t>各ノードでネットワークを中継・負荷分散する。</a:t>
            </a:r>
            <a:r>
              <a:rPr lang="en-US" altLang="ja-JP" sz="2000"/>
              <a:t>Pod</a:t>
            </a:r>
            <a:r>
              <a:rPr lang="ja-JP" altLang="en-US" sz="2000"/>
              <a:t>間通信や</a:t>
            </a:r>
            <a:r>
              <a:rPr lang="en-US" altLang="ja-JP" sz="2000"/>
              <a:t>Service</a:t>
            </a:r>
            <a:r>
              <a:rPr lang="ja-JP" altLang="en-US" sz="2000"/>
              <a:t>経由の接続を管理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3209076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625331-A746-B5C7-50C9-7355C0BD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ja-JP" altLang="en-US" sz="4000">
                <a:solidFill>
                  <a:srgbClr val="FFFFFF"/>
                </a:solidFill>
              </a:rPr>
              <a:t>参考文献</a:t>
            </a:r>
            <a:endParaRPr kumimoji="1" lang="ja-JP" altLang="en-US" sz="4000">
              <a:solidFill>
                <a:srgbClr val="FFFFFF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CBB99C-8537-D380-8C1D-FFDCC360F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altLang="ja-JP" sz="2000">
                <a:hlinkClick r:id="rId2"/>
              </a:rPr>
              <a:t>Kubernetes</a:t>
            </a:r>
            <a:r>
              <a:rPr lang="ja-JP" altLang="en-US" sz="2000">
                <a:hlinkClick r:id="rId2"/>
              </a:rPr>
              <a:t>ドキュメント </a:t>
            </a:r>
            <a:r>
              <a:rPr lang="en-US" altLang="ja-JP" sz="2000">
                <a:hlinkClick r:id="rId2"/>
              </a:rPr>
              <a:t>|Kubernetes</a:t>
            </a:r>
            <a:r>
              <a:rPr lang="en-US" altLang="ja-JP" sz="2000"/>
              <a:t>,2024</a:t>
            </a:r>
            <a:r>
              <a:rPr lang="ja-JP" altLang="en-US" sz="2000"/>
              <a:t>年</a:t>
            </a:r>
            <a:r>
              <a:rPr lang="en-US" altLang="ja-JP" sz="2000"/>
              <a:t>4</a:t>
            </a:r>
            <a:r>
              <a:rPr lang="ja-JP" altLang="en-US" sz="2000"/>
              <a:t>月</a:t>
            </a:r>
            <a:r>
              <a:rPr lang="en-US" altLang="ja-JP" sz="2000"/>
              <a:t>20</a:t>
            </a:r>
            <a:r>
              <a:rPr lang="ja-JP" altLang="en-US" sz="2000"/>
              <a:t>日</a:t>
            </a:r>
            <a:endParaRPr lang="en-US" altLang="ja-JP" sz="2000"/>
          </a:p>
          <a:p>
            <a:endParaRPr kumimoji="1" lang="en-US" altLang="ja-JP" sz="2000"/>
          </a:p>
          <a:p>
            <a:r>
              <a:rPr lang="en-US" altLang="ja-JP" sz="2000">
                <a:hlinkClick r:id="rId3"/>
              </a:rPr>
              <a:t>Kubernetes</a:t>
            </a:r>
            <a:r>
              <a:rPr lang="ja-JP" altLang="en-US" sz="2000">
                <a:hlinkClick r:id="rId3"/>
              </a:rPr>
              <a:t>用語集</a:t>
            </a:r>
            <a:r>
              <a:rPr lang="en-US" altLang="ja-JP" sz="2000"/>
              <a:t>,</a:t>
            </a:r>
            <a:r>
              <a:rPr lang="ja-JP" altLang="en-US" sz="2000"/>
              <a:t> </a:t>
            </a:r>
            <a:r>
              <a:rPr lang="en-US" altLang="ja-JP" sz="2000"/>
              <a:t>2021.03.07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3953400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265</Words>
  <Application>Microsoft Office PowerPoint</Application>
  <PresentationFormat>ワイド画面</PresentationFormat>
  <Paragraphs>25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第4回研究室　2</vt:lpstr>
      <vt:lpstr>説明</vt:lpstr>
      <vt:lpstr>説明2(コンテナ)</vt:lpstr>
      <vt:lpstr>説明3(Kubernetes)</vt:lpstr>
      <vt:lpstr>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23ts030</dc:creator>
  <cp:lastModifiedBy>23ts030</cp:lastModifiedBy>
  <cp:revision>2</cp:revision>
  <dcterms:created xsi:type="dcterms:W3CDTF">2025-10-19T17:30:12Z</dcterms:created>
  <dcterms:modified xsi:type="dcterms:W3CDTF">2025-10-19T18:00:08Z</dcterms:modified>
</cp:coreProperties>
</file>